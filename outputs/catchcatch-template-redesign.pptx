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6889F9-C3C0-4DA0-AEE0-A04C723487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0F2C99-321E-4E32-90B4-889B251909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950D499-87A1-415C-BD05-6CB5C99AE43B}"/>
              </a:ext>
            </a:extLst>
          </p:cNvPr>
          <p:cNvSpPr>
            <a:spLocks noGrp="1"/>
          </p:cNvSpPr>
          <p:nvPr/>
        </p:nvSpPr>
        <p:spPr>
          <a:xfrm>
            <a:off x="742950" y="876300"/>
            <a:ext cx="1314450" cy="400050"/>
          </a:xfrm>
          <a:prstGeom prst="roundRect">
            <a:avLst>
              <a:gd name="adj" fmla="val 14286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1E6A20-E3A3-4AA1-9D73-BE56BF64722C}"/>
              </a:ext>
            </a:extLst>
          </p:cNvPr>
          <p:cNvSpPr>
            <a:spLocks noGrp="1"/>
          </p:cNvSpPr>
          <p:nvPr/>
        </p:nvSpPr>
        <p:spPr>
          <a:xfrm>
            <a:off x="971550" y="10001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0F766E"/>
                </a:solidFill>
              </a:defRPr>
            </a:pPr>
            <a:r>
              <a:rPr sz="1050" b="1" i="0">
                <a:solidFill>
                  <a:srgbClr val="0F766E"/>
                </a:solidFill>
              </a:rPr>
              <a:t>Portfolio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C387D3-A846-43C7-9259-7C671ABCCDF9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캐치캐치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EB0B95-275C-4829-9918-3489F5071A0D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 i="0">
                <a:solidFill>
                  <a:srgbClr val="BEE3DB"/>
                </a:solidFill>
              </a:defRPr>
            </a:pPr>
            <a:r>
              <a:rPr sz="1950" b="0" i="0">
                <a:solidFill>
                  <a:srgbClr val="BEE3DB"/>
                </a:solidFill>
              </a:rPr>
              <a:t>공연 예매 서비스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59FB5-D65B-4A08-ADBB-1FB35683E03B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0">
                <a:solidFill>
                  <a:srgbClr val="DCE8F2"/>
                </a:solidFill>
              </a:defRPr>
            </a:pPr>
            <a:r>
              <a:rPr sz="1650" b="0" i="0">
                <a:solidFill>
                  <a:srgbClr val="DCE8F2"/>
                </a:solidFill>
              </a:rPr>
              <a:t>회원 예매 흐름과 관리자 운영 기능을 중심으로 구성한 프로젝트 발표 자료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2CC116-EAFE-4109-936E-48582DBDFEFC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1714500" cy="571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F48D60-555E-4CE7-8CD3-D40F43CF1457}"/>
              </a:ext>
            </a:extLst>
          </p:cNvPr>
          <p:cNvSpPr>
            <a:spLocks noGrp="1"/>
          </p:cNvSpPr>
          <p:nvPr/>
        </p:nvSpPr>
        <p:spPr>
          <a:xfrm>
            <a:off x="8096250" y="1143000"/>
            <a:ext cx="2952750" cy="40957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2D51EF0-7D14-4744-BD72-0330FC401B06}"/>
              </a:ext>
            </a:extLst>
          </p:cNvPr>
          <p:cNvSpPr>
            <a:spLocks noGrp="1"/>
          </p:cNvSpPr>
          <p:nvPr/>
        </p:nvSpPr>
        <p:spPr>
          <a:xfrm>
            <a:off x="8362950" y="1409700"/>
            <a:ext cx="2419350" cy="419100"/>
          </a:xfrm>
          <a:prstGeom prst="roundRect">
            <a:avLst>
              <a:gd name="adj" fmla="val 13636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F050E6-C316-4357-B534-AB4C2B857E10}"/>
              </a:ext>
            </a:extLst>
          </p:cNvPr>
          <p:cNvSpPr>
            <a:spLocks noGrp="1"/>
          </p:cNvSpPr>
          <p:nvPr/>
        </p:nvSpPr>
        <p:spPr>
          <a:xfrm>
            <a:off x="8610600" y="15240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23C3A"/>
                </a:solidFill>
              </a:defRPr>
            </a:pPr>
            <a:r>
              <a:rPr sz="13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3D308F3-CC10-4A94-8840-655CC3199FB9}"/>
              </a:ext>
            </a:extLst>
          </p:cNvPr>
          <p:cNvSpPr>
            <a:spLocks noGrp="1"/>
          </p:cNvSpPr>
          <p:nvPr/>
        </p:nvSpPr>
        <p:spPr>
          <a:xfrm>
            <a:off x="8534400" y="222885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F65494-C4D6-4C8E-8337-16E67D86B533}"/>
              </a:ext>
            </a:extLst>
          </p:cNvPr>
          <p:cNvSpPr>
            <a:spLocks noGrp="1"/>
          </p:cNvSpPr>
          <p:nvPr/>
        </p:nvSpPr>
        <p:spPr>
          <a:xfrm>
            <a:off x="8858250" y="22002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32238"/>
                </a:solidFill>
              </a:defRPr>
            </a:pPr>
            <a:r>
              <a:rPr sz="1275" b="0" i="0">
                <a:solidFill>
                  <a:srgbClr val="132238"/>
                </a:solidFill>
              </a:rPr>
              <a:t>공연 탐색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DD0903-699D-47C1-A5F7-65A9062BF4AA}"/>
              </a:ext>
            </a:extLst>
          </p:cNvPr>
          <p:cNvSpPr>
            <a:spLocks noGrp="1"/>
          </p:cNvSpPr>
          <p:nvPr/>
        </p:nvSpPr>
        <p:spPr>
          <a:xfrm>
            <a:off x="8534400" y="274320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E6936B-FD4F-41DC-9BD1-F1751B1F1F8C}"/>
              </a:ext>
            </a:extLst>
          </p:cNvPr>
          <p:cNvSpPr>
            <a:spLocks noGrp="1"/>
          </p:cNvSpPr>
          <p:nvPr/>
        </p:nvSpPr>
        <p:spPr>
          <a:xfrm>
            <a:off x="8858250" y="27146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32238"/>
                </a:solidFill>
              </a:defRPr>
            </a:pPr>
            <a:r>
              <a:rPr sz="1275" b="0" i="0">
                <a:solidFill>
                  <a:srgbClr val="132238"/>
                </a:solidFill>
              </a:rPr>
              <a:t>좌석 선택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A68BA35-1991-456B-A833-45DBE9AC832A}"/>
              </a:ext>
            </a:extLst>
          </p:cNvPr>
          <p:cNvSpPr>
            <a:spLocks noGrp="1"/>
          </p:cNvSpPr>
          <p:nvPr/>
        </p:nvSpPr>
        <p:spPr>
          <a:xfrm>
            <a:off x="8534400" y="325755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1A6BA5-652F-4F4A-995B-4D732ACC6D7B}"/>
              </a:ext>
            </a:extLst>
          </p:cNvPr>
          <p:cNvSpPr>
            <a:spLocks noGrp="1"/>
          </p:cNvSpPr>
          <p:nvPr/>
        </p:nvSpPr>
        <p:spPr>
          <a:xfrm>
            <a:off x="8858250" y="32289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32238"/>
                </a:solidFill>
              </a:defRPr>
            </a:pPr>
            <a:r>
              <a:rPr sz="1275" b="0" i="0">
                <a:solidFill>
                  <a:srgbClr val="132238"/>
                </a:solidFill>
              </a:rPr>
              <a:t>결제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2CCDB5-391F-4D8C-B468-CA3937A261AC}"/>
              </a:ext>
            </a:extLst>
          </p:cNvPr>
          <p:cNvSpPr>
            <a:spLocks noGrp="1"/>
          </p:cNvSpPr>
          <p:nvPr/>
        </p:nvSpPr>
        <p:spPr>
          <a:xfrm>
            <a:off x="8534400" y="377190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4307B2-59F9-411A-99FA-6351C8490EAC}"/>
              </a:ext>
            </a:extLst>
          </p:cNvPr>
          <p:cNvSpPr>
            <a:spLocks noGrp="1"/>
          </p:cNvSpPr>
          <p:nvPr/>
        </p:nvSpPr>
        <p:spPr>
          <a:xfrm>
            <a:off x="8858250" y="37433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32238"/>
                </a:solidFill>
              </a:defRPr>
            </a:pPr>
            <a:r>
              <a:rPr sz="1275" b="0" i="0">
                <a:solidFill>
                  <a:srgbClr val="132238"/>
                </a:solidFill>
              </a:rPr>
              <a:t>모바일 티켓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CA7091B-2301-4C1D-ABC1-7AE81973BF43}"/>
              </a:ext>
            </a:extLst>
          </p:cNvPr>
          <p:cNvSpPr>
            <a:spLocks noGrp="1"/>
          </p:cNvSpPr>
          <p:nvPr/>
        </p:nvSpPr>
        <p:spPr>
          <a:xfrm>
            <a:off x="8534400" y="428625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70E080-433A-4098-A763-2605C50B7EE5}"/>
              </a:ext>
            </a:extLst>
          </p:cNvPr>
          <p:cNvSpPr>
            <a:spLocks noGrp="1"/>
          </p:cNvSpPr>
          <p:nvPr/>
        </p:nvSpPr>
        <p:spPr>
          <a:xfrm>
            <a:off x="8858250" y="42576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32238"/>
                </a:solidFill>
              </a:defRPr>
            </a:pPr>
            <a:r>
              <a:rPr sz="1275" b="0" i="0">
                <a:solidFill>
                  <a:srgbClr val="132238"/>
                </a:solidFill>
              </a:rPr>
              <a:t>관리자 운영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448236E-F095-4FFD-B8E3-7515EDF39598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B8C4D3"/>
                </a:solidFill>
              </a:defRPr>
            </a:pPr>
            <a:r>
              <a:rPr sz="975" b="0" i="0">
                <a:solidFill>
                  <a:srgbClr val="B8C4D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208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3BCB375A-CB9F-45C2-9477-2A7A09A52D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58B640-D5A6-4734-8360-A2F47B37C1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E22200-63ED-4BA8-91C1-EC7B082975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82BAA21-EA11-4BD5-BAFA-3BF488FDFCE0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92A9B8-612D-4B44-9069-1A1C01D63CD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621B1C-E4A7-42FB-909A-0F22DE85DCE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OVERVIEW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75D8EA-DE6B-4D5A-8B26-8F2E809BF46B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187289-E1E9-467C-BAE7-3A3A35C5B51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목차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EF22CAA-EBC4-40F5-8B7C-5853A75B04B8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552F6E-A9A9-4C9B-AC41-CA8FBF8DBC4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46863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A208ED3-8FD7-4387-834F-784F7773DFB5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704850" cy="876300"/>
          </a:xfrm>
          <a:prstGeom prst="roundRect">
            <a:avLst>
              <a:gd name="adj" fmla="val 8108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158AA32-968D-4CF5-B1B2-30587F4E48CD}"/>
              </a:ext>
            </a:extLst>
          </p:cNvPr>
          <p:cNvSpPr>
            <a:spLocks noGrp="1"/>
          </p:cNvSpPr>
          <p:nvPr/>
        </p:nvSpPr>
        <p:spPr>
          <a:xfrm>
            <a:off x="1019175" y="22383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9128DE-7909-49EC-AF48-B50CE10206BB}"/>
              </a:ext>
            </a:extLst>
          </p:cNvPr>
          <p:cNvSpPr>
            <a:spLocks noGrp="1"/>
          </p:cNvSpPr>
          <p:nvPr/>
        </p:nvSpPr>
        <p:spPr>
          <a:xfrm>
            <a:off x="1771650" y="21336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프로젝트 개요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2E2B3-E455-4B80-A3CA-61EC8139A111}"/>
              </a:ext>
            </a:extLst>
          </p:cNvPr>
          <p:cNvSpPr>
            <a:spLocks noGrp="1"/>
          </p:cNvSpPr>
          <p:nvPr/>
        </p:nvSpPr>
        <p:spPr>
          <a:xfrm>
            <a:off x="1771650" y="244792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목적, 개발 환경, 협업 방식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836E5D5-D440-42F3-872E-4FB1EA2A1120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46863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6EBE78D-47E7-4E29-B738-07D0F8789401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704850" cy="87630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B8D571-4382-4D79-8DCE-1BBAD8AE2B62}"/>
              </a:ext>
            </a:extLst>
          </p:cNvPr>
          <p:cNvSpPr>
            <a:spLocks noGrp="1"/>
          </p:cNvSpPr>
          <p:nvPr/>
        </p:nvSpPr>
        <p:spPr>
          <a:xfrm>
            <a:off x="6353175" y="22383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2563EB"/>
                </a:solidFill>
              </a:defRPr>
            </a:pPr>
            <a:r>
              <a:rPr sz="15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9E83C9-B065-4AEC-A59A-6DDF775C6028}"/>
              </a:ext>
            </a:extLst>
          </p:cNvPr>
          <p:cNvSpPr>
            <a:spLocks noGrp="1"/>
          </p:cNvSpPr>
          <p:nvPr/>
        </p:nvSpPr>
        <p:spPr>
          <a:xfrm>
            <a:off x="7105650" y="21336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설계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791A8D-E77F-4160-952C-9F8818CF3F39}"/>
              </a:ext>
            </a:extLst>
          </p:cNvPr>
          <p:cNvSpPr>
            <a:spLocks noGrp="1"/>
          </p:cNvSpPr>
          <p:nvPr/>
        </p:nvSpPr>
        <p:spPr>
          <a:xfrm>
            <a:off x="7105650" y="244792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사이트맵, ERD, 테이블 명세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15E7E4B-C186-4BE3-AAEB-765B38DE6B28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46863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F8DFE08-6F78-4A6A-9205-C88AE42D8496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704850" cy="876300"/>
          </a:xfrm>
          <a:prstGeom prst="roundRect">
            <a:avLst>
              <a:gd name="adj" fmla="val 8108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D5A891-54BB-4EF6-8EAA-2C38D6B89F8A}"/>
              </a:ext>
            </a:extLst>
          </p:cNvPr>
          <p:cNvSpPr>
            <a:spLocks noGrp="1"/>
          </p:cNvSpPr>
          <p:nvPr/>
        </p:nvSpPr>
        <p:spPr>
          <a:xfrm>
            <a:off x="1019175" y="35242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8E1D15-1BBD-4F5B-9EB0-093D1474B50D}"/>
              </a:ext>
            </a:extLst>
          </p:cNvPr>
          <p:cNvSpPr>
            <a:spLocks noGrp="1"/>
          </p:cNvSpPr>
          <p:nvPr/>
        </p:nvSpPr>
        <p:spPr>
          <a:xfrm>
            <a:off x="1771650" y="3419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회원 기능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F11A50-58CC-4EAA-8C26-8068D3DCD444}"/>
              </a:ext>
            </a:extLst>
          </p:cNvPr>
          <p:cNvSpPr>
            <a:spLocks noGrp="1"/>
          </p:cNvSpPr>
          <p:nvPr/>
        </p:nvSpPr>
        <p:spPr>
          <a:xfrm>
            <a:off x="1771650" y="37338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회원가입부터 예매, 모바일 티켓까지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8266D49-B6A7-4007-B55A-D431DC73CD71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46863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7EE8F4C-13F1-4B4B-8852-F5467A7C88DE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704850" cy="87630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EECF794-6D99-4DCB-82DC-C963BB3AD1BB}"/>
              </a:ext>
            </a:extLst>
          </p:cNvPr>
          <p:cNvSpPr>
            <a:spLocks noGrp="1"/>
          </p:cNvSpPr>
          <p:nvPr/>
        </p:nvSpPr>
        <p:spPr>
          <a:xfrm>
            <a:off x="6353175" y="35242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2563EB"/>
                </a:solidFill>
              </a:defRPr>
            </a:pPr>
            <a:r>
              <a:rPr sz="1500" b="1" i="0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0ECEE3-2B8A-41C9-A302-9F1DBAB288C2}"/>
              </a:ext>
            </a:extLst>
          </p:cNvPr>
          <p:cNvSpPr>
            <a:spLocks noGrp="1"/>
          </p:cNvSpPr>
          <p:nvPr/>
        </p:nvSpPr>
        <p:spPr>
          <a:xfrm>
            <a:off x="7105650" y="3419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관리자 기능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2F40868-559D-426B-9DDA-5F671E6FF560}"/>
              </a:ext>
            </a:extLst>
          </p:cNvPr>
          <p:cNvSpPr>
            <a:spLocks noGrp="1"/>
          </p:cNvSpPr>
          <p:nvPr/>
        </p:nvSpPr>
        <p:spPr>
          <a:xfrm>
            <a:off x="7105650" y="37338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운영 관리와 CRUD 기능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9F7A9AC-64C4-4AE6-BBF6-873557E21339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46863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CC9819C-69B0-4249-B59E-268DFFA3AE17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704850" cy="876300"/>
          </a:xfrm>
          <a:prstGeom prst="roundRect">
            <a:avLst>
              <a:gd name="adj" fmla="val 8108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34CD46-1227-49F5-B8E7-0DC4F2837590}"/>
              </a:ext>
            </a:extLst>
          </p:cNvPr>
          <p:cNvSpPr>
            <a:spLocks noGrp="1"/>
          </p:cNvSpPr>
          <p:nvPr/>
        </p:nvSpPr>
        <p:spPr>
          <a:xfrm>
            <a:off x="1019175" y="48101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9F3920-5D28-45AB-AAF9-D2E9A757B41D}"/>
              </a:ext>
            </a:extLst>
          </p:cNvPr>
          <p:cNvSpPr>
            <a:spLocks noGrp="1"/>
          </p:cNvSpPr>
          <p:nvPr/>
        </p:nvSpPr>
        <p:spPr>
          <a:xfrm>
            <a:off x="1771650" y="47053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32238"/>
                </a:solidFill>
              </a:defRPr>
            </a:pPr>
            <a:r>
              <a:rPr sz="1575" b="1" i="0">
                <a:solidFill>
                  <a:srgbClr val="132238"/>
                </a:solidFill>
              </a:rPr>
              <a:t>검증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BFCFF22-3800-412F-B90A-76AE004FF960}"/>
              </a:ext>
            </a:extLst>
          </p:cNvPr>
          <p:cNvSpPr>
            <a:spLocks noGrp="1"/>
          </p:cNvSpPr>
          <p:nvPr/>
        </p:nvSpPr>
        <p:spPr>
          <a:xfrm>
            <a:off x="1771650" y="50196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B667A"/>
                </a:solidFill>
              </a:defRPr>
            </a:pPr>
            <a:r>
              <a:rPr sz="1125" b="0" i="0">
                <a:solidFill>
                  <a:srgbClr val="5B667A"/>
                </a:solidFill>
              </a:rPr>
              <a:t>테스트, 부하 테스트, GitHub</a:t>
            </a:r>
          </a:p>
        </p:txBody>
      </p:sp>
    </p:spTree>
    <p:extLst>
      <p:ext uri="{BB962C8B-B14F-4D97-AF65-F5344CB8AC3E}">
        <p14:creationId xmlns:p14="http://schemas.microsoft.com/office/powerpoint/2010/main" val="56232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2B46BE-1CDC-4B2E-B4F8-52FBDF372C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61A2A6-C3F2-493C-AF7F-FACD9A330D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5D88BD-3356-4542-9640-FC2F704AF7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A2EF35A-D530-4028-98B2-D2099621F3FC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F4D61B-DCAF-4937-9ECE-C975FB1C090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3BD81B-D755-404D-B73D-5D2BE7179BE2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OVERVIEW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73A004-E3D1-4CD9-8A53-B33E3E433792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6972B9-D70D-4E74-B8A6-E9B6FCB1E53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프로젝트 목적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FA565A-31BE-4F4E-B134-5C7B256D6B7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F7E52E-6755-4369-A0B8-E429F5053314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공연 예매 과정에서 필요한 탐색, 좌석 선택, 결제, 모바일 티켓 확인을 하나의 흐름으로 제공하는 서비스입니다.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사용자는 빠르게 공연을 예매하고, 관리자는 공연과 예매 현황을 효율적으로 운영할 수 있도록 구성했습니다.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03E5D2-57BB-4EE2-8DDD-8DD051CFCA3E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79AD7C5-058D-4D02-B9F9-069A78900110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6FCB658-2387-4733-A06A-A57F0FBBB14E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85AC65-6496-4BA4-BE14-FD6A983050DD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Overview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DDE35C-11A0-4BC3-A155-7AF633A91464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77143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5F20C5-8475-434F-9FC4-852FA924A7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05FAA5-3694-483B-8128-3E3D61CA27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9F1D26-36D3-46D2-A33A-2EE85A2762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F124D6E-C606-4B42-9FE6-E572DDA8F5F1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9E35A2-3EC1-48AE-8FF7-B0C72350C8D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F35405-95B5-43E5-934F-8BFC7E88F6BA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OVERVIEW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1FBE44-D360-40AE-A59E-8DF6E3C19B88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72CE43-9F41-45BD-8B1E-FA1FBD2C5327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개발 환경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3D6217-33EB-443B-9DF3-CE5318C2A951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9A0715-BF1E-4FD2-B553-19147CBD75CA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사용 언어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형상 관리 &amp; 협업툴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Lombok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492C1B-233B-4648-9348-6352A8D24B31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F35295C-5439-4F9D-BA39-C9D1BE4F673D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1851D63-ABBE-4BF3-BB23-3A19AE87D104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FE3245-86B2-483C-9D06-AED3CDFF16B1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Overview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C17A22-9308-4D9D-BE31-823D35430FBB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52123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A43CEC-DD81-446C-8DC5-034B7FD79B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858EBF-07EE-454B-8D77-658F149324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2F5A17-28C3-4AE4-A644-04904DD12E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FF0F4A-0D4B-429E-8F89-5113154B9EFD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E02F6A-E83E-45D2-A840-FD43864CA13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77A06E-3E5D-4D5E-A9EF-0C6D8E9FA98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OVERVIEW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EC1FA3-9ADA-4B79-94BF-E01403D9D4CC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E6CF46-BECD-46CA-86B5-4FEEC27EB3F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협업 툴 Notion 활용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4B8BFB-144F-426E-87C4-3BF14AE7A53B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98A054-2E25-439A-9D3B-59EFFD833867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협업 툴 Notion활용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3D87E2D-41FB-4606-A917-54D1DEFE99E1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0294840-B008-4887-9BC9-E7EDAA335B9C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4C500F-072A-4BE2-8274-B6E1D905BCB5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1590819-7006-4AAA-9773-022A74C16ACE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Overview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B0D982-E87F-4014-B4A1-965B3BCADB59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70450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FBFDBD-76B4-47FC-A7AA-B5896E73D5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973E4A-B470-4722-ABC1-1EBF366574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21B566-B04A-4FA7-BCB8-E338F28D4D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CDEBC2B-7D9B-4277-A385-B43C3A8A21F5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92E1A0-D816-4D12-8216-37185EF4436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847F19-FA31-4D17-B418-8C9281682F8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D602D3-3D65-4C12-A34E-1201A81E1521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CB17A4-2CD2-41AB-B5FD-A804DC57377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사이트 맵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3081C32-5375-4707-8FA8-4B7ABA9B13B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498A99-2CB4-4B36-A8E3-8CC96C7196BF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회원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유저 및 마이페이지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F1BC959-5896-4479-A521-DA6317162108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E5D3905-003F-443F-B8B7-BD99CB374B01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FBFDFC4-535B-4E79-AB2D-4728D2F91687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1080D2-D282-4509-B5EF-05A9782CCDB6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02C8D0-27A4-4F4A-9018-B40821EFE1EA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40616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10DC9E-5CD8-4626-A711-9A61EBEC4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401B0F-8D08-4DB9-B3F9-24CE090C90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B7E2FA-E45B-4AFC-A16C-3CD1071F4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483FCF2-3A48-4066-A455-441EC929CC5C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0CE672-C895-4129-A079-2A5A8286984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46CCDB-0C71-4986-9028-0960D3EF1F16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787AD7-B529-4352-864A-469CB17D5BEC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AB03A6-F877-422F-9626-26665AE48E1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예매 및 결제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6DF6EF7-AD83-4696-B074-1F8F9E6992F1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976AF7-7312-4B9D-B24F-30E2669E5689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콘서트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사이트 맵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콘서트 및 예매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E04EC96-B827-40BB-8061-161EC4487A7C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1E98DD-2ACE-4DD4-A3E9-48D74B0AF47A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0C8603-1711-446D-9D2E-E793F9C39B28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E08F02-55D4-460E-8DF3-6843B8AC595C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CCF01A-DBFE-40EA-BDDA-A462F48D720B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2594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E56290-2D7F-40A0-8F20-C1F6AC8C99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7812B1-1D3E-4972-A2E3-E66B538F2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1173EA-AE07-4F0E-B833-2CD79E7A51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D38A7A8-76B8-4EEF-B3BF-A679830B12ED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A24A80-501F-4138-AC46-787D84423DB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3F31E6-74CA-4924-98C4-4E406D052E20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7DC7D9-B132-4DDA-8C14-904D50EDC36F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56581D-5348-4E12-A887-AB8FBCF1266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고객 지원 및 이벤트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B972F7E-5479-459A-86FA-9FDDA060B588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DC713A-65DD-4F7B-9638-78CE582843E2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사이트 맵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고객 지원 , 이벤트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B6B5AEA-D784-458A-AB67-4850D7B6EFDD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8E6C4F-406D-45F4-BE2D-83A591D7764B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66A60E1-B648-4B53-9B9E-30CB57665149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6F8EE7-86EC-452D-BBEF-F6431F4B28C8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19F194-B385-41E2-B050-0D8D634CAB07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36836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47138F-21DD-4723-8EF6-1A17F907CE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540478-1CD5-45D2-A9FD-07FFE1C707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0B85AB-541B-408D-8AC8-438FF63C3F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D9C1D1C-3EA4-4E63-BFF2-E078D79EDD7E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FE5E60-1650-4C5C-B9FD-14FB9FD42FA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F28A0A-EE94-4590-8977-6B917273E97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732548-BC25-49E8-98E3-5C8CD7E8C353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77C084-47EF-4DE2-8862-FE27460EE58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및 통계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A2D1316-D042-4D98-83D5-63067D6544C7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AF5BF1-88B6-4642-A3DE-94CD8AB8932E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사이트 맵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공연 및 통계 관리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DB66915-1D97-43F0-82C8-CD0928A09AE9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0F5A7B-7E86-4E4E-9BED-5E97F2EE5BBE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6D20343-F6BC-4F27-8F9E-846A35A61FCB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7CDE0E-535D-4114-8244-40BA4A28F60B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9A9BA4-AB0A-4F66-AE7B-BEB42D629569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5695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3724B5-4F38-4BBB-BF2B-7D362B1937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17DAD2-AB7F-49ED-9788-B4AC0B9733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7B62BE-55DF-4D30-9B85-7694332AC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082E640-6637-4421-ACC7-9A73A2451D16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395156-EAFD-4ABE-9DAA-738C68C407E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179E3F-4C85-4E40-8C80-187543773AD8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999F4A-77EE-4708-88B5-23BE9E60A35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2956B0-7AE2-45EE-8463-C28C29BA1C8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사이트 맵 - 회원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C40A1A-36A6-458B-80C5-8D03043CABD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451704-9245-4007-B76E-4AFDFD0FC284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사이트 맵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예매 및 고객 관리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예매 및 고객 관리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7A4D5D6-8032-48C6-BBD3-F74216C40EBB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72C6EC6-76AC-4516-ABB6-57F2C51C981E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0E51C51-CD83-4A40-95DE-01A37962747D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0F4DDA-9A2C-443F-B2A2-B9FF7D9B471D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0B5A52-A816-4DC2-B1C1-72F624203BDA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373729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D844DE-E1CA-4144-9A10-9DCB6CF7DB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D733C3-1438-4F78-8542-EB187BB8A9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B4848F-0483-4197-B7B3-3CDAABCE81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982F162-D14D-44B0-98C0-5AAF3CA289DB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2243DC-B20F-425D-8B37-29571A01DB7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393060-2D36-4E69-B8F9-311C6CFD663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425545-266C-47A0-B61E-8FAD0F64C0F6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842CEA-A139-4898-9993-A04F37BA324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사이트 맵 - 관리자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19CC24-187E-46D1-B7F7-53FE2669244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B578EE-93FD-4481-99CF-6541923AC24C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사이트 맵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배너 및 DB 관리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배너 및 DB 관리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EDD4DC8-17AC-4DBA-9F51-F9F540035962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317FDD0-98A1-48EE-9743-FCD00609C13B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3B5257C-3A24-4F84-814E-570A2B73034B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773619-19F3-4A9D-8922-46208DC50C63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A93C99-7DE0-4776-88D8-49FC825EBEBC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21633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ED604A-07C9-4F4F-A587-015B3564E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E83BC0-FA8E-4E02-B504-3C06067E62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B3A82E-28D8-4F40-BFA2-B74CEA6D72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36E2D4B-8FBE-4202-8F2B-06532B83A7DD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8C89B2-6C23-49CE-84C5-F2782E97310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8FDC24-2C31-4BC7-A295-83BDD0ABC04A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FE4876-3D1B-4ADA-AE99-F5B265C679BD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E861DC-74B8-4A98-83FC-2D89DD17ABF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ERD 모델 - 예매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E7CE1C4-0153-4199-B312-0B916203A9CE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62DF0D-2E30-4F7F-8917-56AB6AC3192C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ERD 모델 -- 예매 ERD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7C5D2A-8D27-4746-9B74-B4C49A97279C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091883-B0E2-4D45-B41C-882AB1B1CD27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9F2A171-32C3-4558-BC04-AC5E87287F83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FD5A38-C4A2-42AE-AA28-6794D3F27DEC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BBF99B-B3FC-46AE-914C-D1D12003672C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003930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153097-40F6-4197-A661-45F6A79DCB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2A7409-C3C5-40BD-A70E-A9C7702FE5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E64096-F8D8-4F99-8B35-C4D4AB930B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D2062A2-B2E9-4335-889F-85B3E0560406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59C46F-B4A1-4403-AE1C-120BFA76A22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780DE5-A055-4095-9B99-CBF1CECA467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PLANNING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94349C-A482-4CE5-AAE2-5166E76F2B16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B58CEE-0104-4B84-9A79-09A37AA37D4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핵심 테이블 명세서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D569177-5CC9-4B3B-8072-05C930C63A7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E0831C-7ECA-4BFE-B408-14BCF1E1914B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CONCERT_SESSION (어떤 공연을?)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"아이유 콘서트 12월 24일 저녁 6시 공연"처럼 예매의 기준이 되는 ‘특정 회차'를 정의.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SEAT (어떤 자리를?)</a:t>
            </a:r>
          </a:p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- 해당 회차(CONCERT_SESSION)에 속한 수천, 수만 개의 ‘개별 좌석’.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F2A722E-AE96-433B-9A7B-1963B7E7ACD8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EAFD863-F002-4520-98DE-04871B6D0983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4200118-5AA9-4984-9A76-28011A1EC15B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AF7F5"/>
          </a:solidFill>
          <a:ln w="9525">
            <a:solidFill>
              <a:srgbClr val="EAF7F5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AFCA07-D127-44D9-9FF3-F2C640600072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Planning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4C23F8-DA5D-465D-B0D7-5DB35D556EEE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557295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7F6253E5-1424-426F-BC0A-F9D63C0F62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7A91E4-34F7-4990-8FAE-68B1052F8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322A7C-BE84-4C84-91FA-B799778F2966}"/>
              </a:ext>
            </a:extLst>
          </p:cNvPr>
          <p:cNvSpPr>
            <a:spLocks noGrp="1"/>
          </p:cNvSpPr>
          <p:nvPr/>
        </p:nvSpPr>
        <p:spPr>
          <a:xfrm>
            <a:off x="781050" y="933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4B8A6"/>
                </a:solidFill>
              </a:defRPr>
            </a:pPr>
            <a:r>
              <a:rPr sz="1050" b="1" i="0">
                <a:solidFill>
                  <a:srgbClr val="14B8A6"/>
                </a:solidFill>
              </a:rPr>
              <a:t>USER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5A90ED-1F11-4BBC-BCDB-D8369522678A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619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유저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B14963-CAB9-4F29-8889-A1F41BF757BF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DCE8F2"/>
                </a:solidFill>
              </a:defRPr>
            </a:pPr>
            <a:r>
              <a:rPr sz="1575" b="0" i="0">
                <a:solidFill>
                  <a:srgbClr val="DCE8F2"/>
                </a:solidFill>
              </a:rPr>
              <a:t>핵심 기능을 사용 흐름에 맞춰 정리했습니다.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17BF77-4585-4DC4-AF00-7E3C1CCB7B89}"/>
              </a:ext>
            </a:extLst>
          </p:cNvPr>
          <p:cNvSpPr>
            <a:spLocks noGrp="1"/>
          </p:cNvSpPr>
          <p:nvPr/>
        </p:nvSpPr>
        <p:spPr>
          <a:xfrm>
            <a:off x="781050" y="3457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FD0BDA-6DE7-441A-96DB-A742915EA3D4}"/>
              </a:ext>
            </a:extLst>
          </p:cNvPr>
          <p:cNvSpPr>
            <a:spLocks noGrp="1"/>
          </p:cNvSpPr>
          <p:nvPr/>
        </p:nvSpPr>
        <p:spPr>
          <a:xfrm>
            <a:off x="1028700" y="3409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기본 회원가입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2AECA3B-01AC-4585-8D0E-BEDA12FBC764}"/>
              </a:ext>
            </a:extLst>
          </p:cNvPr>
          <p:cNvSpPr>
            <a:spLocks noGrp="1"/>
          </p:cNvSpPr>
          <p:nvPr/>
        </p:nvSpPr>
        <p:spPr>
          <a:xfrm>
            <a:off x="5257800" y="3457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63D510-3576-4903-9196-27E2CA2E2AF0}"/>
              </a:ext>
            </a:extLst>
          </p:cNvPr>
          <p:cNvSpPr>
            <a:spLocks noGrp="1"/>
          </p:cNvSpPr>
          <p:nvPr/>
        </p:nvSpPr>
        <p:spPr>
          <a:xfrm>
            <a:off x="5505450" y="3409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소셜 회원가입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41EBEA9-1F2A-42F9-8ED6-E39FEED65BB0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BAA58A-156E-4CA4-8D69-6BC353803FDE}"/>
              </a:ext>
            </a:extLst>
          </p:cNvPr>
          <p:cNvSpPr>
            <a:spLocks noGrp="1"/>
          </p:cNvSpPr>
          <p:nvPr/>
        </p:nvSpPr>
        <p:spPr>
          <a:xfrm>
            <a:off x="1028700" y="3771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로그인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48DA72-E5AD-42F1-86E4-98B995448BEB}"/>
              </a:ext>
            </a:extLst>
          </p:cNvPr>
          <p:cNvSpPr>
            <a:spLocks noGrp="1"/>
          </p:cNvSpPr>
          <p:nvPr/>
        </p:nvSpPr>
        <p:spPr>
          <a:xfrm>
            <a:off x="5257800" y="3819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1BD34D-225E-4C6F-9378-257F7A16AC89}"/>
              </a:ext>
            </a:extLst>
          </p:cNvPr>
          <p:cNvSpPr>
            <a:spLocks noGrp="1"/>
          </p:cNvSpPr>
          <p:nvPr/>
        </p:nvSpPr>
        <p:spPr>
          <a:xfrm>
            <a:off x="5505450" y="3771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아이디 / 비밀번호 찾기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1CBE8F1-5B9C-4379-AA1F-3EBC3C3E52BD}"/>
              </a:ext>
            </a:extLst>
          </p:cNvPr>
          <p:cNvSpPr>
            <a:spLocks noGrp="1"/>
          </p:cNvSpPr>
          <p:nvPr/>
        </p:nvSpPr>
        <p:spPr>
          <a:xfrm>
            <a:off x="781050" y="4181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E10400-286E-4289-B9F6-B44ED0EDF8EA}"/>
              </a:ext>
            </a:extLst>
          </p:cNvPr>
          <p:cNvSpPr>
            <a:spLocks noGrp="1"/>
          </p:cNvSpPr>
          <p:nvPr/>
        </p:nvSpPr>
        <p:spPr>
          <a:xfrm>
            <a:off x="1028700" y="413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공연 조회 / 상세 확인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39B0DB5-1793-4057-926B-B83387DCB709}"/>
              </a:ext>
            </a:extLst>
          </p:cNvPr>
          <p:cNvSpPr>
            <a:spLocks noGrp="1"/>
          </p:cNvSpPr>
          <p:nvPr/>
        </p:nvSpPr>
        <p:spPr>
          <a:xfrm>
            <a:off x="5257800" y="4181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949F5F-170C-495D-8439-F31E7FF9A3FD}"/>
              </a:ext>
            </a:extLst>
          </p:cNvPr>
          <p:cNvSpPr>
            <a:spLocks noGrp="1"/>
          </p:cNvSpPr>
          <p:nvPr/>
        </p:nvSpPr>
        <p:spPr>
          <a:xfrm>
            <a:off x="5505450" y="413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대기열 입장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E0C170-6A2A-47D8-9675-318E75A7959D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DBEECF-6C43-45A4-BD70-F373161853DD}"/>
              </a:ext>
            </a:extLst>
          </p:cNvPr>
          <p:cNvSpPr>
            <a:spLocks noGrp="1"/>
          </p:cNvSpPr>
          <p:nvPr/>
        </p:nvSpPr>
        <p:spPr>
          <a:xfrm>
            <a:off x="1028700" y="4495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좌석 선택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08AFA42-A912-40BC-8F94-B93F99491A34}"/>
              </a:ext>
            </a:extLst>
          </p:cNvPr>
          <p:cNvSpPr>
            <a:spLocks noGrp="1"/>
          </p:cNvSpPr>
          <p:nvPr/>
        </p:nvSpPr>
        <p:spPr>
          <a:xfrm>
            <a:off x="5257800" y="4543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27FD2B-A87E-466C-8D26-2DF735C6E8FC}"/>
              </a:ext>
            </a:extLst>
          </p:cNvPr>
          <p:cNvSpPr>
            <a:spLocks noGrp="1"/>
          </p:cNvSpPr>
          <p:nvPr/>
        </p:nvSpPr>
        <p:spPr>
          <a:xfrm>
            <a:off x="5505450" y="4495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결제 / 예매 완료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3A0EDC6-806A-4FBC-AE43-DED7A5832A47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655D20-8EB3-46CE-9EA8-E1BCBA59BA3A}"/>
              </a:ext>
            </a:extLst>
          </p:cNvPr>
          <p:cNvSpPr>
            <a:spLocks noGrp="1"/>
          </p:cNvSpPr>
          <p:nvPr/>
        </p:nvSpPr>
        <p:spPr>
          <a:xfrm>
            <a:off x="1028700" y="4857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예매 내역 / 모바일 티켓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214885B-2B84-493B-AF35-86520F333C2C}"/>
              </a:ext>
            </a:extLst>
          </p:cNvPr>
          <p:cNvSpPr>
            <a:spLocks noGrp="1"/>
          </p:cNvSpPr>
          <p:nvPr/>
        </p:nvSpPr>
        <p:spPr>
          <a:xfrm>
            <a:off x="5257800" y="4905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8765242-B0FA-4147-8387-FED08E4E6E8F}"/>
              </a:ext>
            </a:extLst>
          </p:cNvPr>
          <p:cNvSpPr>
            <a:spLocks noGrp="1"/>
          </p:cNvSpPr>
          <p:nvPr/>
        </p:nvSpPr>
        <p:spPr>
          <a:xfrm>
            <a:off x="5505450" y="4857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취소 / 환불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90BB8D7-A43C-4DA4-8C85-C7EE801B0F34}"/>
              </a:ext>
            </a:extLst>
          </p:cNvPr>
          <p:cNvSpPr>
            <a:spLocks noGrp="1"/>
          </p:cNvSpPr>
          <p:nvPr/>
        </p:nvSpPr>
        <p:spPr>
          <a:xfrm>
            <a:off x="781050" y="5267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BEA9C3B-4CB4-419E-9028-AB45E4C33939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공연 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E75F1D-5166-4466-A3CC-9A3D9DCF7811}"/>
              </a:ext>
            </a:extLst>
          </p:cNvPr>
          <p:cNvSpPr>
            <a:spLocks noGrp="1"/>
          </p:cNvSpPr>
          <p:nvPr/>
        </p:nvSpPr>
        <p:spPr>
          <a:xfrm>
            <a:off x="5257800" y="5267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EDA15B-678B-4074-ADED-33795CD3B43F}"/>
              </a:ext>
            </a:extLst>
          </p:cNvPr>
          <p:cNvSpPr>
            <a:spLocks noGrp="1"/>
          </p:cNvSpPr>
          <p:nvPr/>
        </p:nvSpPr>
        <p:spPr>
          <a:xfrm>
            <a:off x="5505450" y="5219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관심 공연 / 알림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4EE2A12-59D9-46CD-9AD1-12C7167EA1BD}"/>
              </a:ext>
            </a:extLst>
          </p:cNvPr>
          <p:cNvSpPr>
            <a:spLocks noGrp="1"/>
          </p:cNvSpPr>
          <p:nvPr/>
        </p:nvSpPr>
        <p:spPr>
          <a:xfrm>
            <a:off x="781050" y="5629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4259D9C-7F3F-42D0-B672-CEF4C665D83F}"/>
              </a:ext>
            </a:extLst>
          </p:cNvPr>
          <p:cNvSpPr>
            <a:spLocks noGrp="1"/>
          </p:cNvSpPr>
          <p:nvPr/>
        </p:nvSpPr>
        <p:spPr>
          <a:xfrm>
            <a:off x="1028700" y="5581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공지 / FAQ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BF151DF-34D8-46F8-84D8-39E00A90E2E6}"/>
              </a:ext>
            </a:extLst>
          </p:cNvPr>
          <p:cNvSpPr>
            <a:spLocks noGrp="1"/>
          </p:cNvSpPr>
          <p:nvPr/>
        </p:nvSpPr>
        <p:spPr>
          <a:xfrm>
            <a:off x="5257800" y="5629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92E2E1-09C9-4D8C-A732-7DD32A372811}"/>
              </a:ext>
            </a:extLst>
          </p:cNvPr>
          <p:cNvSpPr>
            <a:spLocks noGrp="1"/>
          </p:cNvSpPr>
          <p:nvPr/>
        </p:nvSpPr>
        <p:spPr>
          <a:xfrm>
            <a:off x="5505450" y="5581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1:1 문의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399A839-AE31-45F8-BF37-7B0284666BBE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FD7589A-CECB-41BC-8ACD-01856548F287}"/>
              </a:ext>
            </a:extLst>
          </p:cNvPr>
          <p:cNvSpPr>
            <a:spLocks noGrp="1"/>
          </p:cNvSpPr>
          <p:nvPr/>
        </p:nvSpPr>
        <p:spPr>
          <a:xfrm>
            <a:off x="1028700" y="5943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AI 챗봇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59243FC-63AC-40DE-9611-792CF9CAAD7F}"/>
              </a:ext>
            </a:extLst>
          </p:cNvPr>
          <p:cNvSpPr>
            <a:spLocks noGrp="1"/>
          </p:cNvSpPr>
          <p:nvPr/>
        </p:nvSpPr>
        <p:spPr>
          <a:xfrm>
            <a:off x="5257800" y="59912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0DFEB52-E3A0-4257-A985-D38C9C69614C}"/>
              </a:ext>
            </a:extLst>
          </p:cNvPr>
          <p:cNvSpPr>
            <a:spLocks noGrp="1"/>
          </p:cNvSpPr>
          <p:nvPr/>
        </p:nvSpPr>
        <p:spPr>
          <a:xfrm>
            <a:off x="5505450" y="5943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마이페이지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D485B0D-6A91-47E0-B78B-75CBF0F30C23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B8C4D3"/>
                </a:solidFill>
              </a:defRPr>
            </a:pPr>
            <a:r>
              <a:rPr sz="975" b="0" i="0">
                <a:solidFill>
                  <a:srgbClr val="B8C4D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645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8E358C-F183-49C3-8420-2D97DBF023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DD6F87-164C-4AA7-B050-EBE2EB406A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15AAE0-829E-4669-A325-F4D14FADC8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B4E1C4-BB57-4775-A412-5B7AA3AA6018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226DAE-C946-42C1-B137-D20AB96371F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AAA20E-D332-4977-AB19-870D07D8AEC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72582F-375F-4696-B12B-1F1E8AA60D1A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C595C3-A8B3-4BE3-8DEA-B3AF3E4C280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기능 구분 - User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818BD4-879B-4A2B-946F-B32094266ECE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9ABDF5-A3BC-419E-91C0-0C55A4B45902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회원 기능은 가입부터 공연 조회, 예매, 결제, 모바일 티켓 확인, 문의까지 실제 이용 흐름 중심으로 구성했습니다.</a:t>
            </a:r>
          </a:p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복잡한 처리 과정은 화면 뒤에서 자동으로 동작하도록 설계했습니다.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B72E492-52C6-41B5-B51A-74CD6D9A8BD6}"/>
              </a:ext>
            </a:extLst>
          </p:cNvPr>
          <p:cNvSpPr>
            <a:spLocks noGrp="1"/>
          </p:cNvSpPr>
          <p:nvPr/>
        </p:nvSpPr>
        <p:spPr>
          <a:xfrm>
            <a:off x="5143500" y="16002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339D2A-6018-41E2-BEAF-92E75B61ECFD}"/>
              </a:ext>
            </a:extLst>
          </p:cNvPr>
          <p:cNvSpPr>
            <a:spLocks noGrp="1"/>
          </p:cNvSpPr>
          <p:nvPr/>
        </p:nvSpPr>
        <p:spPr>
          <a:xfrm>
            <a:off x="5143500" y="16002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F994AC-9686-4CB3-B71A-034ED3E9E9EE}"/>
              </a:ext>
            </a:extLst>
          </p:cNvPr>
          <p:cNvSpPr>
            <a:spLocks noGrp="1"/>
          </p:cNvSpPr>
          <p:nvPr/>
        </p:nvSpPr>
        <p:spPr>
          <a:xfrm>
            <a:off x="5334000" y="17526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기본 회원가입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655C446-31D2-4305-BCDB-E8579D1EA90E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AFB274-F232-4093-9725-CCC8B074E2A8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C308AA-5453-4180-AB71-CC987E716908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소셜 회원가입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AC12F77-05A5-4CF0-9DB1-984A264E444B}"/>
              </a:ext>
            </a:extLst>
          </p:cNvPr>
          <p:cNvSpPr>
            <a:spLocks noGrp="1"/>
          </p:cNvSpPr>
          <p:nvPr/>
        </p:nvSpPr>
        <p:spPr>
          <a:xfrm>
            <a:off x="9906000" y="16002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BB9B5BC-EF6F-4481-97AE-B36449BDEE67}"/>
              </a:ext>
            </a:extLst>
          </p:cNvPr>
          <p:cNvSpPr>
            <a:spLocks noGrp="1"/>
          </p:cNvSpPr>
          <p:nvPr/>
        </p:nvSpPr>
        <p:spPr>
          <a:xfrm>
            <a:off x="9906000" y="16002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D47BCC-FDE7-4A27-A072-75C417097E92}"/>
              </a:ext>
            </a:extLst>
          </p:cNvPr>
          <p:cNvSpPr>
            <a:spLocks noGrp="1"/>
          </p:cNvSpPr>
          <p:nvPr/>
        </p:nvSpPr>
        <p:spPr>
          <a:xfrm>
            <a:off x="10096500" y="17526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로그인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295FD7A-9616-43B7-B19C-17E4D16F663A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0736632-327D-4C97-AD45-F9BF2A5EC206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B43423-A7A2-4A9E-ADEE-C978B39487C0}"/>
              </a:ext>
            </a:extLst>
          </p:cNvPr>
          <p:cNvSpPr>
            <a:spLocks noGrp="1"/>
          </p:cNvSpPr>
          <p:nvPr/>
        </p:nvSpPr>
        <p:spPr>
          <a:xfrm>
            <a:off x="5334000" y="24765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아이디 / 비밀번호 찾기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4F28A7D-544E-4AEE-A45C-1F04CCD2CBDE}"/>
              </a:ext>
            </a:extLst>
          </p:cNvPr>
          <p:cNvSpPr>
            <a:spLocks noGrp="1"/>
          </p:cNvSpPr>
          <p:nvPr/>
        </p:nvSpPr>
        <p:spPr>
          <a:xfrm>
            <a:off x="7524750" y="23241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3114313-3792-4088-842B-FC9D0779E9A3}"/>
              </a:ext>
            </a:extLst>
          </p:cNvPr>
          <p:cNvSpPr>
            <a:spLocks noGrp="1"/>
          </p:cNvSpPr>
          <p:nvPr/>
        </p:nvSpPr>
        <p:spPr>
          <a:xfrm>
            <a:off x="7524750" y="23241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9215D6-87DB-479E-AE97-68E0EE2B89EB}"/>
              </a:ext>
            </a:extLst>
          </p:cNvPr>
          <p:cNvSpPr>
            <a:spLocks noGrp="1"/>
          </p:cNvSpPr>
          <p:nvPr/>
        </p:nvSpPr>
        <p:spPr>
          <a:xfrm>
            <a:off x="7715250" y="24765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공연 조회 / 상세 확인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0874EE0-21B5-43DC-B4C3-B1BDA3BF9AE9}"/>
              </a:ext>
            </a:extLst>
          </p:cNvPr>
          <p:cNvSpPr>
            <a:spLocks noGrp="1"/>
          </p:cNvSpPr>
          <p:nvPr/>
        </p:nvSpPr>
        <p:spPr>
          <a:xfrm>
            <a:off x="9906000" y="23241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EA9EFC8-AF8C-42A0-8A6C-62A0E530C230}"/>
              </a:ext>
            </a:extLst>
          </p:cNvPr>
          <p:cNvSpPr>
            <a:spLocks noGrp="1"/>
          </p:cNvSpPr>
          <p:nvPr/>
        </p:nvSpPr>
        <p:spPr>
          <a:xfrm>
            <a:off x="9906000" y="23241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151A53-802C-434C-BE57-F93B63296450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대기열 입장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2BD065A-8C6C-400E-B6B0-3A335B929D3B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5C1AB36-9301-4FC3-B9E5-F4FF011269DD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5E66A2C-499C-4E9D-A167-A2884AE30FE1}"/>
              </a:ext>
            </a:extLst>
          </p:cNvPr>
          <p:cNvSpPr>
            <a:spLocks noGrp="1"/>
          </p:cNvSpPr>
          <p:nvPr/>
        </p:nvSpPr>
        <p:spPr>
          <a:xfrm>
            <a:off x="5334000" y="3200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좌석 선택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52D55E2-E787-48DA-B88E-BB5C62E05BBE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CBACDB0-CA6B-46BD-A2AC-5ADA8B4BC400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4D52B6-ECAE-4FCD-BFCA-C1CE2F8CFFCB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결제 / 예매 완료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E4EC98-051D-4D0A-BB87-22631BB37F19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1314B21-D408-4EB1-9A87-EA0B080E252E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32FBDF8-A64D-4BBC-97C4-218DCAFC641E}"/>
              </a:ext>
            </a:extLst>
          </p:cNvPr>
          <p:cNvSpPr>
            <a:spLocks noGrp="1"/>
          </p:cNvSpPr>
          <p:nvPr/>
        </p:nvSpPr>
        <p:spPr>
          <a:xfrm>
            <a:off x="10096500" y="3200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예매 내역 / 모바일 티켓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90A1540-D321-450A-A69C-58A99251EA30}"/>
              </a:ext>
            </a:extLst>
          </p:cNvPr>
          <p:cNvSpPr>
            <a:spLocks noGrp="1"/>
          </p:cNvSpPr>
          <p:nvPr/>
        </p:nvSpPr>
        <p:spPr>
          <a:xfrm>
            <a:off x="5143500" y="37719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E09425-9F4B-483B-B554-B41B3F8E84D5}"/>
              </a:ext>
            </a:extLst>
          </p:cNvPr>
          <p:cNvSpPr>
            <a:spLocks noGrp="1"/>
          </p:cNvSpPr>
          <p:nvPr/>
        </p:nvSpPr>
        <p:spPr>
          <a:xfrm>
            <a:off x="5143500" y="37719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AF6A127-D0CE-4869-862C-BAF5A818C190}"/>
              </a:ext>
            </a:extLst>
          </p:cNvPr>
          <p:cNvSpPr>
            <a:spLocks noGrp="1"/>
          </p:cNvSpPr>
          <p:nvPr/>
        </p:nvSpPr>
        <p:spPr>
          <a:xfrm>
            <a:off x="5334000" y="39243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취소 / 환불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2828A87-D799-4E3A-87CE-F75CD2094829}"/>
              </a:ext>
            </a:extLst>
          </p:cNvPr>
          <p:cNvSpPr>
            <a:spLocks noGrp="1"/>
          </p:cNvSpPr>
          <p:nvPr/>
        </p:nvSpPr>
        <p:spPr>
          <a:xfrm>
            <a:off x="7524750" y="37719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C0C2648-5B98-4778-8D02-652CDC246FA0}"/>
              </a:ext>
            </a:extLst>
          </p:cNvPr>
          <p:cNvSpPr>
            <a:spLocks noGrp="1"/>
          </p:cNvSpPr>
          <p:nvPr/>
        </p:nvSpPr>
        <p:spPr>
          <a:xfrm>
            <a:off x="7524750" y="37719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41AEB67-80D9-4319-874D-8765CA38FE61}"/>
              </a:ext>
            </a:extLst>
          </p:cNvPr>
          <p:cNvSpPr>
            <a:spLocks noGrp="1"/>
          </p:cNvSpPr>
          <p:nvPr/>
        </p:nvSpPr>
        <p:spPr>
          <a:xfrm>
            <a:off x="7715250" y="39243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공연 후기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E7AF52D-055B-4482-98C2-4C34776EC777}"/>
              </a:ext>
            </a:extLst>
          </p:cNvPr>
          <p:cNvSpPr>
            <a:spLocks noGrp="1"/>
          </p:cNvSpPr>
          <p:nvPr/>
        </p:nvSpPr>
        <p:spPr>
          <a:xfrm>
            <a:off x="9906000" y="37719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57F2DC4-DE33-4302-A814-83134E0D125F}"/>
              </a:ext>
            </a:extLst>
          </p:cNvPr>
          <p:cNvSpPr>
            <a:spLocks noGrp="1"/>
          </p:cNvSpPr>
          <p:nvPr/>
        </p:nvSpPr>
        <p:spPr>
          <a:xfrm>
            <a:off x="9906000" y="37719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D75E99C-E0FA-4636-ADC0-7C21B265B11D}"/>
              </a:ext>
            </a:extLst>
          </p:cNvPr>
          <p:cNvSpPr>
            <a:spLocks noGrp="1"/>
          </p:cNvSpPr>
          <p:nvPr/>
        </p:nvSpPr>
        <p:spPr>
          <a:xfrm>
            <a:off x="10096500" y="39243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관심 공연 / 알림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6D4E432-D2A6-44EB-9445-EC1491EA88C4}"/>
              </a:ext>
            </a:extLst>
          </p:cNvPr>
          <p:cNvSpPr>
            <a:spLocks noGrp="1"/>
          </p:cNvSpPr>
          <p:nvPr/>
        </p:nvSpPr>
        <p:spPr>
          <a:xfrm>
            <a:off x="5143500" y="44958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438B1FF-12FF-4AE5-8953-4638CF5ED9F4}"/>
              </a:ext>
            </a:extLst>
          </p:cNvPr>
          <p:cNvSpPr>
            <a:spLocks noGrp="1"/>
          </p:cNvSpPr>
          <p:nvPr/>
        </p:nvSpPr>
        <p:spPr>
          <a:xfrm>
            <a:off x="5143500" y="44958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2D83EF1-E050-40BE-825F-6273018822F4}"/>
              </a:ext>
            </a:extLst>
          </p:cNvPr>
          <p:cNvSpPr>
            <a:spLocks noGrp="1"/>
          </p:cNvSpPr>
          <p:nvPr/>
        </p:nvSpPr>
        <p:spPr>
          <a:xfrm>
            <a:off x="5334000" y="4648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공지 / FAQ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0344AF1-879B-4F03-8125-3D2633BF8EBA}"/>
              </a:ext>
            </a:extLst>
          </p:cNvPr>
          <p:cNvSpPr>
            <a:spLocks noGrp="1"/>
          </p:cNvSpPr>
          <p:nvPr/>
        </p:nvSpPr>
        <p:spPr>
          <a:xfrm>
            <a:off x="7524750" y="44958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CE1346-E448-4C00-923E-D263E6910B22}"/>
              </a:ext>
            </a:extLst>
          </p:cNvPr>
          <p:cNvSpPr>
            <a:spLocks noGrp="1"/>
          </p:cNvSpPr>
          <p:nvPr/>
        </p:nvSpPr>
        <p:spPr>
          <a:xfrm>
            <a:off x="7524750" y="44958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88519E-8797-45A4-ADFA-6B0C51A3B73A}"/>
              </a:ext>
            </a:extLst>
          </p:cNvPr>
          <p:cNvSpPr>
            <a:spLocks noGrp="1"/>
          </p:cNvSpPr>
          <p:nvPr/>
        </p:nvSpPr>
        <p:spPr>
          <a:xfrm>
            <a:off x="7715250" y="4648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1:1 문의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6F048BD5-5331-4CC1-9540-446E50558E94}"/>
              </a:ext>
            </a:extLst>
          </p:cNvPr>
          <p:cNvSpPr>
            <a:spLocks noGrp="1"/>
          </p:cNvSpPr>
          <p:nvPr/>
        </p:nvSpPr>
        <p:spPr>
          <a:xfrm>
            <a:off x="9906000" y="44958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3604970-4046-4994-87D2-62F548E1DE60}"/>
              </a:ext>
            </a:extLst>
          </p:cNvPr>
          <p:cNvSpPr>
            <a:spLocks noGrp="1"/>
          </p:cNvSpPr>
          <p:nvPr/>
        </p:nvSpPr>
        <p:spPr>
          <a:xfrm>
            <a:off x="9906000" y="44958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A7B1325-E9E8-4BFC-8264-AE9D8DDAFF42}"/>
              </a:ext>
            </a:extLst>
          </p:cNvPr>
          <p:cNvSpPr>
            <a:spLocks noGrp="1"/>
          </p:cNvSpPr>
          <p:nvPr/>
        </p:nvSpPr>
        <p:spPr>
          <a:xfrm>
            <a:off x="10096500" y="46482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AI 챗봇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E520EA6-CEE2-474F-820D-F3F1E407BA93}"/>
              </a:ext>
            </a:extLst>
          </p:cNvPr>
          <p:cNvSpPr>
            <a:spLocks noGrp="1"/>
          </p:cNvSpPr>
          <p:nvPr/>
        </p:nvSpPr>
        <p:spPr>
          <a:xfrm>
            <a:off x="5143500" y="52197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B510B12-F06B-42EA-8CFC-90D1F8CFC59F}"/>
              </a:ext>
            </a:extLst>
          </p:cNvPr>
          <p:cNvSpPr>
            <a:spLocks noGrp="1"/>
          </p:cNvSpPr>
          <p:nvPr/>
        </p:nvSpPr>
        <p:spPr>
          <a:xfrm>
            <a:off x="5143500" y="52197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FBCE7AC-17B5-4D19-B9DD-54BAF15882A1}"/>
              </a:ext>
            </a:extLst>
          </p:cNvPr>
          <p:cNvSpPr>
            <a:spLocks noGrp="1"/>
          </p:cNvSpPr>
          <p:nvPr/>
        </p:nvSpPr>
        <p:spPr>
          <a:xfrm>
            <a:off x="5334000" y="53721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778191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470F606-A016-49BF-BF7A-2C65F847C7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CDE24B-A978-43EA-982F-85BA27ED36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B1FC9D-5D37-4E5E-A3E2-A7A909399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DDE110-5BB3-4298-B9E4-7017C65D5FAF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787D9D-8867-4583-BA22-84D861C6CDB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9021B1-4549-4015-B071-55619B6E2846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C86EA5-C470-4293-8051-B0BA2960F658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AFB5B5-C695-4E21-9C52-CEF05E05394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회원가입 - 기본 / 소셜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A8FF3AE-B25D-4A8D-8976-B427C07727B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DB0CE7-91E2-4CD3-8790-FDB3D50566AF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4A17D5-EFDF-48D3-BB6E-590D6C40407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기본 회원가입은 입력값 검증, 아이디 중복 확인, 비밀번호 암호화, 주소 검색, 국적 선택을 거쳐 안전하게 계정을 만듭니다.</a:t>
            </a:r>
          </a:p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소셜 회원가입은 외부 계정 인증 정보를 받아 필수 회원 정보를 저장하고, 사용자가 빠르게 서비스를 시작하도록 돕습니다.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6E9802-9093-4899-ADE9-4EA740A1F72B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6FE9E8-7C37-4715-AC4A-6B7312FC6C4A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BE514C-23D4-4EB6-96D2-28F5CE1180F2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7A4A5EE-53E1-46E7-BF5D-22A28A28C017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ECB52A-5FBB-4808-82C0-1DEE09AFA41D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B4D6FA-2157-47A0-9FD3-DA8BD5C1A603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12889B-EF0B-45DA-B495-AF4227CCF40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입력값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BFF1F5-15C6-43C6-B5AB-FB8D2A1520CE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58A8BB1-C435-4E3D-BEF3-6385B15ED795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1391F6-73A9-419F-AF4C-A37C4D76AEE2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B493F6-FE97-45D9-857B-D1AD9FA5CD13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중복/주소/API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7B2D230-8CE0-4A66-98D6-AB8E09FA2320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FE326A3-601B-4B51-B305-B734A1F729E3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4ECC26E-CFD0-43FC-A27F-6BFC022D17FC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F565A0-CE14-41FB-A983-4C1A0A3100E3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암호화 후 저장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45AFFA-61C4-431C-8E46-C08D142E2AB5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5753338-1ADA-4C3B-9A94-332B8F985C25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695622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CF08B1-C0C6-4528-8FA0-0BE9C16775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FA307A-C26B-46B6-B7F7-2D019CB681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86EF08-991A-459D-8124-5D675E6326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7FEEE7C-BFDA-47FF-9D4E-58E1AF6FF872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9D830B-CE0A-4E0E-84A5-4C8315423ED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35860-E25C-4632-A514-4F9271C66D7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D2A1AC-3CA1-4147-965B-381322C84E08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AF699F-6164-4188-BE83-3743208D497E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로그인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98CF36-62F8-4B26-A15E-0F6C1FC40B0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B9CB77-1A72-428B-AE82-8F8C5ACF9AD0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AC22D2-2CD2-4CCD-8D03-9DC535AEB0B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로그인은 입력한 계정 정보를 저장된 회원 정보와 비교해 본인 여부를 확인합니다.</a:t>
            </a:r>
          </a:p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확인이 끝나면 로그인 상태를 유지해 다음 화면을 이용할 수 있습니다.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30B8C38-8CD2-4838-8A6A-82A933F738A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2CB34A-8A99-42E2-876B-C6C757BA5393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A2206B-E4DF-4DDA-878E-6849A3103689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86A83CC-502B-43F1-A3E8-4D12FB4FB4D8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0B7958C-B56A-4EDC-893C-EF6EC979AAA8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D751F9-A051-4286-B3E7-95F3CAD2AF79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5E1F80-E4D2-4FBD-8632-DD4E14CFB248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계정 정보 입력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8D1856-7A1C-4363-9A01-1D5B7F33FE12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DFE1EA5-02F0-4593-B23F-12C2ABC9CD2A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D11E9E-A881-4A29-9E86-E0FD1CB7F252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F21A71-72E5-4562-AE14-528A34ACDEE7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회원 정보 비교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51B1F2-60DA-4EC3-8486-31D721F61667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C60442F-61F4-4945-861B-548D6A5CF84C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DDAC17-4992-4E88-9CF9-ED1E51E99DBD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7EB8AA-79E6-4702-8E91-21ECDEDC9343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로그인 상태 유지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B457BF1-0434-4D47-BB90-48791ECE4F77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56D81F-F9D1-4152-A43E-6281687AFB20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152086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5236AEB-633E-4195-88A6-FA9D48E8E1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F3F1DF-49DE-45D6-B1DE-64C87205E5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6D882F-A6E2-462A-9733-CB56EE074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1D30E9-4612-4DB7-9733-2705F5967F28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4073CC-9932-454D-BE74-B4A91539968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3F1435-0BE0-426A-9B03-119BFAF1051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FC70B3-84F9-4FA6-8B84-9873F74019A9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30546A-73FC-44A7-989B-6800D9A371E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아이디 / 비밀번호 찾기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F39E7F0-A7EF-486F-A5E1-231F5357020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2DDDCD-AB72-4D01-9FB9-BFA9BBA04013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D4232F-C65C-4959-8746-1312DE6AAE2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아이디 찾기는 가입 정보와 일치하는 계정을 확인해 사용자에게 안내합니다.</a:t>
            </a:r>
          </a:p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비밀번호 찾기는 본인 확인 후 새 비밀번호를 설정할 수 있도록 처리하며, 변경된 비밀번호는 암호화되어 저장됩니다.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C3DE984-812F-4B64-BBAA-8858FB8F9CD3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52650F-998F-44C8-A3A7-8E7C71C0EC24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E634F4-4EFB-449F-AC44-B925430933A5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FC0E8C6-848B-44CE-8972-12E84C29AA61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42D89D4-A04C-452B-9669-E2072E2A30AB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C77254-327D-4463-BD7A-368A90F667D9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D14174-0F02-4868-89E3-5910A92F83F2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본인 정보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12BCFB3-7CFC-492F-823A-B63D2CA6422A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E313FCC-2C27-4EA4-8370-270291B778C8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3CBE31-D784-4BBA-9C92-32AC88DAF327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E755C9-56F6-499D-BFD9-A5148B2501B1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계정 정보 안내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53A1D1-0C30-46E7-A3AD-7D0C4FAFCE67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912CDED-004B-497B-9042-D25221A74873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167112-2602-440A-AB97-8626234A88D9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0CFF98-5A5B-4AAD-83A9-B3EF25EC0764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새 비밀번호 저장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FF0B26F-1338-4FB3-ADFE-519E534C9789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0CF3F7-61FC-4858-8F1B-E4F0F62DD001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501436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BABDE0A-CF55-44F8-B63B-53CDFFC95D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08772D-DB8F-452F-9088-929644DE3F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C6C1E5-E13C-4B25-97D4-8C4909CB78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B328388-D239-405E-80D1-89573FFA023A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E30532-EAF6-47DB-BD3E-7B54C9AE125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7CB206-131D-4B8F-91CF-BA5DF1C3E3A8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233298-D702-493D-B3BA-C192A620BF74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19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4D64EB-3B0D-42B8-AC48-1F48EFE9C56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조회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33FC45A-912E-4012-B22A-77B0A69E976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908D75-765C-4D8F-9BC8-FA862EB64303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304437-7CC1-4F70-920B-3F694830E5CD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공연 목록은 날짜, 장르, 검색어 같은 조건으로 원하는 공연을 쉽게 찾도록 보여줍니다.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0BFEBE-0F5D-4ABB-BC6A-EDBB2C603B8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029826-81FF-486F-BC72-31D27E36EDE0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DC19A5-03C2-4A62-A63E-00CC82BE1011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BA4E00E-8FCD-4C13-843E-9EAD37598D0B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5C1D941-0FF1-41C9-8F8B-9D0CFF73886B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C8AFFC-80C6-4636-BCBC-86632A213A2E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B41694-303E-40D0-A70B-29801BDC7015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조건 입력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4E4EAD-3F24-437C-B60B-310E06FF1EE3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224FE4-8B93-4B41-A47C-2616AF511C8D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00C4D1-5A49-4FD3-A1B9-BBD33A995833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8BE068-A60C-4961-A097-4881B7DB7C04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목록 필터링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EE214E3-8833-4DEF-9E6C-5B0B64B616E9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5CAF8D8-430A-42BD-BF46-7DD58C91C897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A5B83B-9E4D-4773-8120-023E19244716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225EFC4-10FD-43B9-B2BC-70FBB9994911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공연 선택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D4EF2D5-9A18-40BC-95AF-3433E1785B02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9D6A4E-76E9-4F99-9C93-67603FADDCA5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634971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592929-1AEC-4362-9771-7A303CE03C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6AA398-083F-4AAD-A424-C24988F74E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0E44-31A6-4DDA-94DF-56E30BFEAE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CDF86C5-4B8D-4A39-B33F-312944966B01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EC216E-47C2-43A6-AEB4-510CD52F44B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5D2111-97B9-47A0-B237-9DE5893CFAE2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FA4806-C283-4BF9-92B2-3F7DA9AFD038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036365-4D80-47C3-83DC-89750A4BAAC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상세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787D644-F2F4-47B1-899B-EDD82CD9F427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A46090-132A-4714-AFDF-60CA41B123EB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D54E5B-9785-4576-8023-D3DA3E8D7167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상세 화면은 공연 정보, 회차, 가격, 좌석 등 예매 전에 필요한 정보를 한 곳에 제공합니다.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83E5EB-84E1-485C-81ED-BDE9162185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16CCD4-4E2C-440F-A99A-519DF2F1CE96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57BBD6-570D-49BF-8629-F7A004A26236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330AD87-22D9-412E-8B8D-4E2CB65A5391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7F45378-5669-4884-A23D-4E9FE1647D43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C246D4-2410-4D75-9C3A-A553FA6334AF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46CB65-0723-4025-9661-12B813D6E34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공연 정보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A11C82F-1DE5-4F3B-8A05-5C747488D951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6F15452-9F62-450F-824E-D3D60CB88375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B63FAC-1A7E-4539-BAB5-A4350A1F1EB2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7D71FE-214A-4668-88F0-76074FA186E5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회차/좌석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74D3958-4CC0-404B-B258-C548AD6259F0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0ED804C-A928-45A4-8F2C-DF4AEAF53A1A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9D0D11-17E3-4155-B494-883AA98400DF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09D053-9753-4091-8775-EE871742DBBD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예매로 이동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9DDAADD-CC3C-4E7D-9AF2-98372EE34F98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7E6CD0-5ED9-4027-A67C-6FDA73E01E0C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84108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3FBA5C-978E-440E-98F9-5292985892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6FCC52-17C3-4612-A6F8-F014A4562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B8D418-F9C4-4305-A4BE-7D26B1C631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599F10F-D74C-4353-AB0C-358C6D392CB3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724734-E98F-45AC-8F08-E21EEBA446C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6E065A-5383-4885-8C98-7F6F99EB67EF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5BFAD4-A22E-437C-BDF0-5E020F7F760B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AD1074-F053-4F6C-8972-5F72E781BDA1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실시간 대기열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A24A9F9-B37F-4264-98F8-ADA1D53CFFE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3E22A5-CF81-4E7D-AB57-5C8BAB0AE29E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D54F29-1E2A-4A75-9D2D-41F5FC987F9B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동시에 많은 사용자가 접속하면 대기열에 순서대로 입장시키고, 사용자는 자신의 대기 순번을 확인합니다.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9CECAF7-DC9F-49CC-B213-A744BCC960F3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86A3F8-58B5-4F8E-A15F-6801F5F719E5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689BAF-0331-47E6-BBC5-78FF007F86D8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4498DF3-13DA-45E1-89F3-42CCD534351C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BC12832-72FC-4081-B779-3B818ADA2455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7FE2F7-D6F3-46B9-B967-7C4FC93C98F7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96B118-7004-4E45-83E9-6197310664B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접속량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C58191-88A0-4094-9A9F-7EC07B054394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C5B3FA6-B40C-48C4-A6FA-C1617FE0A37F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A6C794-5ADE-4D2D-AE45-C537FEFE4DB1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1F61FA-AD79-4255-9634-D8FDA1627FD7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대기 순번 부여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60C0E67-141F-451B-98EE-00E26C1268DE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12444B2-3053-4941-9DBA-BB1EF95582B9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29CF9FD-3EAF-4195-A805-A9BFDBD3BC43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B3260D3-EED4-425B-A6D6-03FCC8033801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순서대로 입장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8169CFD-7D8C-4241-A200-8245266EEF8D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9878951-F4C4-4D1C-A8DB-ECE95B1F5488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400685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716A9B-5BF0-4C63-8A5F-9213762744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A3C868-2456-4136-90C9-4B9133375E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4F9729-95DB-4A36-8827-288F683DAE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D35CC3D-934B-43D5-8843-285FB576E170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1EC21B-7412-49CE-8AC5-1A02F7CBFB0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CFDA6B-F4E4-406F-8A6E-EC3DA188C903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0ACC3F-1A70-465A-8BBD-4F60FB540AEB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0018E5-2EAC-4ED6-838F-5B4B1CCF6E8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좌석 선택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56DEA4F-762A-4047-8DC4-B8EC9C097F3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051AB9-31A2-4480-95CF-A6D4D166D720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F86377-D788-4C1C-B5E5-56B21477BA94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회차별 좌석 정보를 불러와 사용 가능한 좌석만 선택할 수 있게 보여줍니다.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E894515-87A1-41F7-A4AC-5E40C2AE4902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76840F-0B3F-4F8B-B228-81F4505729C2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CFC7BB-E140-4D32-B5EE-83F9CCCB57DA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8878810-B94A-4126-B5FC-9CC949B1CF18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46734B-DEE4-459B-A75A-7E268B9B91F2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9DE662-4D26-4B18-902C-8E3D9BC683FC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7B162C2-3293-4698-A69B-F8C22FB84CC5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상태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A17BFF5-E207-4810-B692-7BAF3D33F0C8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391B23F-FA30-4921-B120-24D08DBE96B3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686AB2-5A4F-4363-BA7E-DD14067B1459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4520FE0-5F1C-4228-8E95-0ED1BC5B052A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가능 좌석 선택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DD2D4CA-B2E2-4C91-9CC2-DA3C784F9247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7264303-7DD3-458E-960D-B1B3B428BFBC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B200CA-0159-48F0-8FAE-58CAAFCF8360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CE0297F-D0DC-4BD6-80A9-A79CF3526593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선택 결과 저장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0AD2B0D-66AA-4328-9497-0DA287DB8A9B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98943A-62F3-40F1-9C27-AACEB134B569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838230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D7E7E4-0AC0-4A3E-86DC-F8908FC871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12768E-C637-4C22-A1AA-4F1C696BFB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CA64FB-12FA-4C08-B959-93D74D3426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0DB8196-C1AB-4580-8FD6-0A6D387A8ED6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CB493B-A0A0-4461-B0B8-90FB278FD40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5EF0D8-5B0A-4969-BE72-7558BC0101A3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298FC0-D875-4E3D-B7F5-F8E32B1013FB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639E9B-4C53-4F74-B086-4538E94A6F2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결제 - 임시 점유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CC5FF7-C8EB-4029-A2C2-449C7D2EACC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05B0F1-6D29-42FC-A0B1-0F1CFDE3CB42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25B6FB-644C-44A9-B36F-EE9F746D72E2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결제 중 다른 사용자가 같은 좌석을 선택하지 못하도록 좌석을 잠시 점유합니다.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205F45A-939C-4AB0-ABDD-0A9F3B32D8C1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0A49C7-B8E9-4BB9-949E-48DD63893FB1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EDA825-83D3-4164-A54B-F399ACD7EA6B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1400990-5568-4380-84FA-0683FFF1768C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7A5B288-14E5-4929-8B35-908277406D17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67FD24-9887-4E77-8956-8D2068A343E6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C697E5-7747-4A50-83FF-282CAEDACD2B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임시 점유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37065FA-9AA3-41D9-9844-E32753362354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23513A-1E19-44E8-ABAE-AF4F3A29960C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6DED6B-816C-437B-946B-C9830D8BF120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1D9AA39-2E3B-4CBC-8679-BE7586A371E9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결제 진행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68982F6-E9ED-4D39-81EB-4BD0D58C68A9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6BE3A65-6DCF-44FC-A659-A794784AFE21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9C9AC0-2971-40EF-9883-472456E94850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B8CBDF-B985-442A-AC31-3CE4A57DC3C7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만료 시 해제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329CDB9-47BF-466B-B834-3F8839A41E13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D816937-3641-4F09-B289-D96F199799B5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59742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D6B81A-396F-4DB3-97C7-FB9056F1B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DB9ADD-6AB0-4061-8BF9-ACC7BDFF4E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5BA212-377F-44ED-AB3F-0631D47EF7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3F6355F-4296-4F8F-98A9-8B4BE9F56DCA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0AB3C-0425-4183-8042-EBF73E3BFBC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7D0E1F-AD4C-4EF9-A914-5C8DBFF5322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1909C6-C911-4B6A-BB93-5394AD318F7D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F757CF-40C6-442A-BB8F-2236A6B4FDB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예매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3A83C4-1B3D-4F42-858E-A3902452850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7D5AB1-71C0-4E35-97EB-428A1BEA74C8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367567-3862-4753-8E21-604F7337CED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결제가 끝나면 예매 번호와 좌석 정보를 확정하고 사용자에게 완료 화면을 보여줍니다.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B78C2C-5943-4B0E-AA6E-CAAD1F328478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271D31-BBF0-4616-833C-40A53AB611A5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93FF75-F299-485D-B5B9-FAFB4D294C1A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24E36D2-86F7-43AC-90BB-C3169082BC05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0D6607-539F-435D-BAA5-32F0908D61D7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B2D5CC-6EBE-4313-9504-F99B5268F265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0CF07E-EF4C-4994-B389-94C8F2BD4F4C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결제 결과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BC0CBCB-B1EE-4CC6-85C1-0193F9473659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6863C6-9230-4AF6-BB0A-9D0E21A2C844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5EFAFF-7C24-4886-B753-B14BB2D3AC12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D2F122-05C4-42D8-B897-1B1F35BF8879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 정보 확정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9C62D3F-E276-45EA-9F24-06CA19B7B597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B16338B-4053-46FF-BF36-4A05662A4F92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19C8DF-D88F-4B2E-9298-938747311BC5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285A58-CB57-4E4D-B569-3942C6D8A4D6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완료 화면 표시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6DD179F-EC9D-4E76-ADC1-460EEB66324F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232F864-89DE-44C2-8F5C-6B54DA3BF42A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836784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854C24-39AB-439C-A44A-A54ECA3F8E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719799-3586-4E2A-B864-F594EA2C18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B3A6D2-F4A8-4A54-BEEC-6EB188A17E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EC01EF7-9077-4957-9A0F-3FB54C3B1551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38947A-5CDA-4D3D-997A-13B38606811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0EA8B4-ECC2-495B-AD79-86D638CC398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C5BE93-2A4A-44C9-B451-E268F6E827F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015E00-6008-4B57-AE03-218E0905961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예매 내역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2E66491-343F-4D4A-976D-4042CD2815E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223939-4E58-4258-8E66-E1600A670483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BA74D0-4E6C-421C-9F88-93903D3ED3F2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사용자는 예매한 공연, 결제 상태, 좌석 정보를 확인하고 필요한 경우 취소 또는 환불을 요청할 수 있습니다.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90A3340-5C68-467D-A6F8-8075D1365E2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61ADAA-9B0E-4C4E-8DA7-14B5104B2C3B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3107F5-1379-4866-A9FC-CCE743DDB5EF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F2A9B6-D790-4039-8E77-7D7BE18096A9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59B06C-F5BE-4235-8939-E7F1A40478F6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C5F24F-2720-48DC-AF08-D990DD6BD530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1C83BE-45D1-4FF5-8FF8-3AC350B5380A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 목록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7BD278-042F-4ADA-A615-680D7A1C252A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7BE004D-C84A-42A6-BDBF-8E94332EA3F3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B6478C-5F77-48D4-80CB-FD50D60D35D4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841ED8-2B6C-4E56-BB3E-9B14B5198F80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상세/상태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62C18F-B4BA-4BB7-853C-B982850B77FA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C262D23-A278-433F-974C-3DC82C0D1E56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FD7AB9-96D6-476C-8739-252F6C1B3326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E7B7DB-37C6-486D-989A-16C2FCBCCCBB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취소/환불 이동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5A13DA-A6DA-411C-AD1B-6222F2FFEAB4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D4EE9F-AB1F-4C97-A025-70DBDACDA8E4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393099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3EF445-9675-4D29-8AC4-BE921E707B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DAE091-DAD0-400A-B4D7-BDE86C0F3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123B27-AF5E-4CDB-904D-89E353AC1D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2B9463-7DA9-4A38-88CE-646BFA0A6396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10A53E-AE04-4826-9330-714A282AF68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2E86E9-0539-4E46-96B6-85494842D8DF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66E80B-F829-4B21-A0CD-59D462859D0B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E62829-8302-4199-BE5F-349A5D340BAE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모바일 티켓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F5D9A98-30AE-4F51-B58C-3E6F1905026B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59E623-6BAA-4093-ABAB-45AC4FAF011F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7ADB1A-EA82-4538-A52E-EFBD3091024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모바일 티켓은 예매 정보를 QR 형태로 확인할 수 있게 제공하여 현장 입장을 돕습니다.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B727747-E6E5-4539-B549-F0AA044F8B22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B42DC6-3956-4066-9F87-D9EA4220E927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F89EC8-0ED1-4D6B-BA78-11ADC5087D4B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D5BA224-7717-4893-B923-B1CAC7615F8F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9DB2A5E-BA39-4A54-BE82-0F29519A8072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5693EEC-AC0F-4A21-9BD7-223A74275DC7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EE1D91-CA25-48AD-889D-981863F4A7F8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티켓 정보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39691F-89AF-4567-ADB1-1D5B98D9080F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7B30C7-0C02-4A2C-8D50-881B80343CDB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8B034E-7C18-43BF-9207-310327179A86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171B5D-F7FB-49C1-9A17-D7723D0681B2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QR 생성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8EECCC-06CF-4707-95E6-BD35FFEB02D7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9155D93-FDAD-4603-A27A-1288F24C12F5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C8886D-1F31-4189-956D-198B795D937D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3748BF-0388-48AF-AD96-71C2A21C409F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현장 입장 확인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A29C545-E7D8-48B6-B9AC-5100A5987B37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3911338-FD85-4EDE-81BD-C6F16B79E118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906203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B56525-824C-45AC-808C-86140BC3EA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DB10EE-F1C7-4B75-BED0-7ADB2E2507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B05E84-1DAE-4CCA-B958-00A2B14695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23C22B-318E-42E4-B4BD-9D463F930AA8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CD1377-F81F-4B61-9AB2-05C42594FC9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D48947-8D0D-400C-B942-F0F8A5E7B06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027921-0624-4977-881E-2047BA05216B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6CD997-C116-4D4B-AB54-02285B94CA2E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예매 취소 / 환불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CE0BCC-70B3-444C-B6FD-3A4225265E0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3C7B5A-86AB-40A2-AF87-4390E346640E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19AF02-9B1A-46E7-A446-D053EEC3C0E7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취소 가능 조건을 확인한 뒤 환불 요청을 처리하고, 예매와 결제 상태를 함께 변경합니다.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36D4D3-E79F-40D3-8F77-94BC44C1C86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ED47D3-DECD-4C14-A613-0708F22A2EFA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C68B15-681C-4DF6-AC95-93C91D5A8E09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DB92C7-720A-4E95-B82F-FF79C616BD7D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787A276-54FD-4ACC-98FE-998E6E768693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28623B-34B1-4698-BF54-E60A3CE60619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D38DB1-475B-4499-B25A-0D4D37AF337E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취소 조건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2470F94-B3C5-4D47-841E-8E52AD0C158A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17F92F2-3CF6-4852-A9C8-CC5F6F8A4EC3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8B67561-5675-4279-AAFA-2C4C2C091B70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E120C8-EAE2-4636-8C06-CA5A4C091EDD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환불 요청 처리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3983445-530C-4D60-B71D-BD9E26348B24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5F7A1E-EB1D-4B95-919C-E3840673C903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D3EA1C-B357-4369-8834-96A180438409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C56F4D-9B2C-4259-B94F-28CBF2A6046E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상태 변경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F7DAC0B-3680-4203-ABF1-AA7D06D3D2E0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842C48-9D07-4961-9EC8-C0C700B71FC5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865602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1C9043-D987-44A8-989A-57B59781BF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22B736-99DF-4EE3-ACDA-AA99B128B4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1D1DE1-47B6-460E-B858-AE84648C8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7358415-AA2B-42D8-95DA-CC9CB6E5AEC5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B42349-36B8-413D-B503-55FA6D222B6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744AA5-335F-4BEA-A4FB-FE3299C6227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22D90C-7721-415C-9C60-A5B2F8A5B5E6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2034FE-20E7-4B46-AFD6-201F9D31740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후기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D736B0E-D8BE-4662-9913-89081BFEAE77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E20666-E2FA-4BCF-9BEF-975F873365EF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66B377-7CBD-4488-9214-F32E6482C25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공연 관람 후 사용자가 후기를 작성하고, 다른 사용자는 공연 선택에 참고할 수 있습니다.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0BDB1B-4BFD-41A2-92C0-24F4E9D112D4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0D1095-3F37-40D7-80DD-F3135483DA02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03B382-A44B-4C6F-8928-D48CB3ADED79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9F7D253-234B-4A5B-9694-901102D9144C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15FA326-F7A7-48A3-A54D-8CB74FA9AB81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2B3085-7D13-40AF-8416-A0EB48C72A97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01352F-F58B-44B8-A5F7-8DF5A9E98BD5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관람 이력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03C4684-2BF1-44E5-9DB6-EEE08B4980A5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1655ECA-F72C-484C-B870-81A8BF61868B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77A2B6B-FF0E-405F-BACD-FE670AA201F8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8B0E1F-439F-45AE-A3C8-8C64A383FB8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후기 작성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BA240B7-DB16-426D-9E1A-649524CFBBF7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8536D82-550A-4EAB-8FB2-3F52972242E1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C28161-6BFE-464E-B059-0D7799A66925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2EBFB7-0860-408A-89D5-F9DB188B5C9C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후기 목록 반영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C4CA5A9-9A94-4DA9-9D3C-71211862BFAE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47CEE4C-03D5-465F-AB25-6C65C9132944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2007743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885A25-E5E1-4576-9753-3C0E36A2E6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BB0073-E060-4AB9-874D-3D7215C493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C3B18A-CB54-4B47-B198-2DDE9EE555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58F26C5-65B2-44E2-91BB-5E236AEBEE61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FC6662-67A4-4E32-AF81-7B8BF5482B2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D55168-7A53-47C4-8D0C-EFA267E69F8B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945D38-E04E-47F5-804C-108DFF508EA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81346-0656-43AD-B8D9-F6B227D41907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관심 공연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4B72A6-19BF-47B1-95AB-9E70696CB23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B55101-EEFB-443E-8806-542D23F1B10A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864A52-0009-4649-BED2-21CEFA459D1B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관심 공연으로 등록하면 사용자가 다시 찾기 쉽고, 관련 알림을 받을 수 있습니다.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1C5F078-95EC-4FF6-A423-2ABE7BC1B51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E3CD83-2F07-4BEA-B443-B5A8F9179468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769C76-0555-4D85-B07C-059A839A81B4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EE8855-1C0E-41BF-AB2B-F597B4AA655E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FEAD22F-997D-4DC6-AF37-DB154979DAED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B4885A-BF55-4EDB-8C95-3A0AD213AF1D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A2F55C-4ABB-4736-95D1-844900C6D892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관심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975E819-7A50-4217-B346-4B8BB95B380C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8DCBEB2-C52C-43E9-A1D3-958A1736B47C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5645D3-6FF2-4B07-B1D0-2E578359962F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E2BBCE-CCAA-4118-BA57-8673A92DAF8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목록 저장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29C7352-75CE-4346-98FD-AB09D12ED06F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C5C672E-F2B8-4315-8D87-EB1B37AC5835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42D393-EB54-4AB3-8A35-8089DE42710F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2FF907B-697C-414D-826B-408D434D2D8F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알림 연결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5294DF8-CBC3-47B8-BAFF-ABE90E7B61A3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34B1652-D327-432F-99B5-9210A0C5D08F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725186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6F6E914-2A8A-4C63-8964-DBE3C6351D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F2CDE5-81CC-4745-A82F-322E5A9A0A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5545F6-2E9E-48E4-9212-7A14998B32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ECC36BB-094F-4FFE-AC28-0490C3297B9F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53DAD7-D87D-4540-85BE-11D77E0B33C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87D9C6-521A-43B5-ACA4-90C82C93D07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9B92E1-9032-4A33-BF83-F56ED5623CA5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5FB03B-251E-4315-B0C3-5BB04D49A7D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실시간 알림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F30DF3-9FAA-42A9-A86C-6CF4D64C9E45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9FBC99-7A42-40F7-8327-5C97374A0975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4E5154-62CF-41BB-B9E7-28B5FE1700F4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예매 완료, 환불 처리, 관심 공연 소식 같은 주요 변경 사항을 사용자에게 알려줍니다.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EA6172-533E-40F2-A2FB-A51F410258F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DE339A-D505-40C9-AD80-5BA2F9CCEEE0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61FFF6-61E0-4334-878B-B2A5BCA5B4FF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988F53A-8CFA-476A-A42E-B7BB2F53B58C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11501A9-9992-4994-BD84-2EF5318B69B2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A4A87C-426D-4D44-9648-7F363DEAB406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00321E-E4E1-4AB9-9061-1C7307ED9F07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변경 사항 발생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799E5C3-2B00-4D5D-9F60-225E1F7CC322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58FA838-8E0E-4F8E-A695-8E70C5112720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FC912B-7E45-47A4-8A14-3A950100789A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C3E897-7133-45B7-88DB-2C3BE288BDD9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알림 생성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A062E46-AA6A-4273-B385-089D7A588844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4554C3A-10F2-4F4C-987C-E3440D691DCE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1E9C00-FE25-4163-AA96-BEABD96782E2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4B2DE4-40F6-4C4B-AAE1-C0DB4723EF3D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사용자에게 표시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6E34FCE-BBFD-4115-9E53-9CEB37DED5F5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728C2AB-4F0F-4A6F-91B7-EC9216F82E97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372886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52674A-450E-449A-B608-3C6838FE4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6E9914-D1BD-47D1-80F2-655187E490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4C71B2-5481-4C2D-9A8A-538DAAACBE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B2C1CA0-9415-4B99-B64A-0AABA8484659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67E564-1360-4896-854C-1C91CF4D118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9907FB-B5D0-4A82-B1AE-6412010A5F1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ECA6FD-8857-4216-851A-BF74AEF870AF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54DA28-E091-4E5F-91A6-4C56BAB2CAD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공지사항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ECA3C73-9D5A-4874-B76F-3E83CE866002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63AA6C-D532-49A0-A20C-EC207BB03A94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77E989-BEE2-4E1D-A7D2-B02685B16C7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공지사항은 서비스 운영 안내와 중요한 변경 사항을 사용자에게 전달합니다.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1C79E77-ABA6-4614-80EB-77293C5F0447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7BF40F-2E46-439A-8739-C0EC7760CA40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E2ABE3-7F31-4217-B445-CE675AD789DE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7BB8E96-CA4E-4BE8-BC46-A5C0E730D9CB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CE8E4F5-8955-4D17-864C-2D2F0B1821EA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214894-0886-49E2-9E21-36FD6F17F72C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35CF70-CAA2-4CAB-9653-177E7C69C7FA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공지 목록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7B24DA9-8E7B-40A4-9F38-C06FF29513CB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C759DCD-2682-4EDE-BC49-52D6826262C1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6521D8-ED2D-415B-98E8-6F8E95C8450B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0A1771-BE1C-4EBE-983F-12CE6B495BB0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상세 내용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852033-7047-4F50-97E4-56A9E1B3D234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668FB4F-C726-44B4-B604-2D942356F694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303B83-7989-4720-9257-E22EB2549E0E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48B086-C9EC-464A-BA08-A85526DB7D5E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운영 안내 전달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CF14B82-A9E8-4D64-9ED1-4630A5A1F680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21251E-45DD-45E2-9CF3-5B6DCFEE2FF7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355028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A29FD8-D58F-4957-903F-381703D1A9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6E2BC8-D898-496F-A266-F6ABCCD697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1BC04D-B9E4-45DF-AA2E-847E6E5E62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544CF7A-AF87-4C2C-B959-1EB128820AB0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D6CB3A-CD14-4B99-AE48-B646EB362F8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62CC4A-CBB9-4BE2-A7D6-FCE407937D8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C52A5D-FD0F-4235-9445-CE4E64138E2A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F18A2D-1B7D-438D-9F72-E99DD9FC355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FAQ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F77B16D-EDA0-46AC-98DE-362BE0FABF2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B90898-00A2-4087-96B1-8501611BECBA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133468-C9F5-4222-9CD4-A6EA70E7CFE6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FAQ는 자주 묻는 질문과 답변을 미리 정리해 사용자가 빠르게 해결하도록 돕습니다.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59167AE-6A47-465A-800D-5B7BF08189CD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26A402-BADA-4E12-92CA-062BD7076AB8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7AB099-AFF1-4361-888B-250221AD6CDA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E037027-434E-4BA9-8921-6551C4DB80E1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DB4E5D2-7652-4A16-9E6F-67955858E072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6356156-99E9-46B6-9201-EE1ADDCEDE08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C95D79-9A3C-48EB-A866-022EB76D2D10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질문 분류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DBAB214-4DC0-40D2-9B83-FF2E86B9BB71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835B01-2B59-4443-A9E9-65F729BDE576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EB9DF8-048D-4BB0-BC5E-05A598BEB53E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8E9354-BC63-4FF4-B5C9-54EE1D645C93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답변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11D98F1-BE21-42DD-A9C7-F4524A385441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BDBBEA1-16FA-4325-99CD-69D0FC9EDDD2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B17523-7957-4EEE-BFA8-A25894B632A7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1ED08A-9342-4B39-80C1-EB36B7969F50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반복 문의 감소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F00389E-5573-4BDB-BCBD-0D758673E798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943FB5-391B-4E6F-BE1B-F6E7751E67D0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888160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942CC62-692C-4066-B74B-B6124FB6F8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F6C2EA-F431-4645-9197-78BD833B1B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F8A0B1-465F-4577-9FE1-A2C787ECBB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AA1528C-C838-4F90-8888-95D3F768D4A1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B81072-8961-446B-9666-D39B7115683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9A1D17-60BF-4E47-A595-40CDA4572A30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57F07B-7C15-45A9-B347-25E9A79207E9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C97427-C49E-400A-BE68-23394D369967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1:1 문의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E7376C0-314E-4645-B7F8-580E429254A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AD6BAD-3D91-4F38-B6BC-0F02ED9B6152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B89F16-4664-4483-93B7-21918783627B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사용자가 직접 문의를 남기면 관리자가 답변하고, 사용자는 문의 내역과 답변 상태를 확인합니다.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4575E7A-301B-4C99-B1A0-E1F1FD0B903C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348D37-2F46-4EE9-9428-98BF38699984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4DB7D5-E193-4F3D-9937-7E9034EEC77A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E0D00EA-88AD-45CF-B20A-D4F69D4400A2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81D879A-2BD8-4F6F-B04D-21C910B3045B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F1FDE5-4D7E-4ED0-8654-60B3BC91099A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1BB599-E3A2-4418-AB4E-D3C29B79C767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문의 작성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56ABE32-D126-4393-824B-B758D14F4A49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A28A979-BD23-4C60-8B35-293CFCA82D6F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3E7727-74D0-465A-9E39-51FECD82889A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08E4266-BBC3-460E-B9C8-E3258530931E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관리자 답변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5580186-5DE2-414D-8D5E-A3D1D9B8A611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B23A36C-E9EE-4A58-94F0-2BD1CC0708F0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76FF4B-9C4B-4D10-8657-255069474F6D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D2E035-B654-4110-AFD4-501886CF9A7B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상태 확인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9963ABE-887F-4E6E-BCDC-FDCD5B915F7F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FBAC56-4C32-4F42-A7D0-FEB3E828F88A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823701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670144-E834-40C6-B1B0-3BF44630E4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D405B1-4CB7-432C-8E65-332EABB7D9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2FBEE0-A63B-49B0-BF53-2FB9BE8B8E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C2E9F05-7733-4A11-8133-0BB44DCFC96F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ABE41A-0A71-428E-8299-3B07F02E829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85B8F5-1D58-496D-AAB5-0D2A3822B301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CC2080-E98E-4656-B60F-834B07FE25BC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824BD4-2D7C-4B5F-881B-68E8C8EFD1B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AI 챗봇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EC79A2F-8A17-4EE2-BC49-DDE211A3991D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AA7E36-9A99-4C06-B502-49EF46E4C83E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F42B3C-41EB-4267-95CD-E37B14A36E7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AI 챗봇은 자주 묻는 질문이나 이용 방법을 빠르게 안내해 상담 부담을 줄입니다.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25B059-C686-4BC4-A4CF-1B27FA34F6AC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E995E-EAC0-44C2-868C-1E5D02617562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90647B-D310-4847-BB18-0389ED96B7C2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544302-99E6-4229-936F-6640AD681DF5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975840A-9301-452C-BA06-26BFBAE8D51B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38DCA2-DD83-4CB5-A065-8AC4A841AF2F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9C7AC6-170D-48BA-9767-629066AEA9FF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질문 입력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B07D1FB-8A9A-41BF-9FFD-BADE662DDB9E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166AE10-554B-4EF1-93CD-2EDF7C15F140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1D884E-E3AF-4900-9FC2-21E1876CE250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EF8533-5F21-4930-8E87-B5C319B50FF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AI 답변 생성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E7ECE6E-C14B-41F2-BCE1-F00E2BE244F0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4E00543-8201-4CF7-9C46-511BDA2C84DB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234913-D7F8-439B-8511-A912F503B8F2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6E0152-3510-49C1-8AC3-83347BF19F75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추가 상담 연결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71DBACB-D9DD-4F12-8571-DC35852DDB23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4080E4-9F9E-4907-BB8C-917FD04A6B0F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2111011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B060C1-15FF-4C7E-91B4-92001B682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AC1892-1E32-471F-AFAA-6FBAFA4A0C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C2BF0C-DF11-4CEB-A770-52BA62562B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0AD0D4C-55FD-4D44-A6C9-127ED26D3A38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674612-8EF9-4685-AAC1-3FFDF7524A5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CBE491-2DA8-4883-8C1B-CA492EB5D51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CE25-2B51-4FA7-9F95-C462943E20C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5BA2C3-1272-4002-B236-7184A4EFC2A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마이페이지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FFDDFD9-E25F-4B1C-B2C9-DE2126752103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926A0C-FDA7-4F07-B952-245096CCEB3B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8C5985-B936-4A3F-9990-AA22C6184E62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마이페이지는 예매, 포인트, 회원 정보를 한 곳에서 확인하고 관리하는 개인 공간입니다.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D7F791-EECE-4A2F-A261-D1124102A04B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88623E-03CB-4957-B463-1244CC18BB37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997116-0CDA-4F72-9E96-5C42433C221F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EEE0B38-B52F-4A4B-AB01-79B21153DB8C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006FD1-7B03-4B78-BC1D-E1C78DF04BE4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1A0BB8-45C6-4637-9118-62204449B48D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D65C4F-ED86-45B1-80D4-86C13A5AD488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회원 정보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447DFA6-2636-4835-BA03-CEC592C299E2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737712B-0967-4807-8E86-34E922EA73D3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93D6606-81D1-437D-BB47-F4AFAD4E9A23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765795F-4B6B-43A6-A240-C64D77A73ABB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예매/포인트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0F73BAB-4D7C-44B9-8230-E9A520C4FA4A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55C26F1-C82B-4DB2-882C-9EF7B6FC468C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BED4B6C-B462-4DEF-99EF-4290FF4F82E2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5626B8-639D-414A-BBC8-B03FBB7EB116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수정 화면 이동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58F7376-4345-445C-8383-B9F0B5FC20FD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7F4202-EAC9-4E93-95FF-A0D99CB49FCB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02090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124CE8-C1E7-4F5A-9A4C-26B41ABD6C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893FBE-A396-43F4-B633-2FF68CF282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0B84FB-82C7-492A-AE84-3BB8486464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557AD3C-6205-4031-B52A-41DB201C58D3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AAD579-4B1E-41CE-A925-8FFBDD31260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C7A95C-7E96-40E6-A09C-151F8EAC640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580089-D884-430A-AF5A-1030F6F37BEE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68EA85-8C89-4628-8AF6-EBA8A2ABC8F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포인트 내역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2A2DACF-60B1-4AD5-BA9C-EDD406B74AA6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D909B0-DE55-4C63-8C06-356A924297B7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057C44-4AD9-4CB7-813A-F40B12B238D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포인트 내역은 적립과 사용 기록을 시간순으로 보여주고 현재 잔액을 확인하게 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428448F-2005-417D-9035-6A8BEEF10C0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289E42-F698-4B0F-8EF3-CE281D8F5AEF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D77BD5-B6F1-4BBE-8F9A-8A6735F1958D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F625375-3CD3-4DCE-A8CC-1E648493F0A5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544D85B-CCD4-4D91-BF76-30BB59130515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8AE404-98AB-4182-BEAD-160E558FF56E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05B8B3-8E80-46D2-B757-2E27BD7198B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포인트 변동 기록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4AEA57B-EF33-4B94-BC2D-B39BA26012C7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D1FCD7-1822-4E9F-821B-968129227E94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54942A-B53F-4768-8ABE-8A30F937FFB1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E181C2-8691-4035-AA2F-A098DB8BDCBA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적립/사용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FF03CDA-547E-42E9-8D6A-8F855DB68AF3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D4E8F26-0E7D-4E17-BFBB-1CC028124F89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FA62C4-5F3A-4AB3-A188-85AF21A95155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E890BC-5769-498A-A521-147542849CD1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잔액 확인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42C244D-2C50-42F1-BAD1-A46457DD1A49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543DA6-B9E9-48E3-BB46-13F222FE68C3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246173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48124CC-EB0B-4644-AB88-F63F32A00D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65A13B-40CF-4F49-91B4-186762339E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8E5D44-49C1-4E71-9543-307A243FA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35D1DC7-C38D-4493-9E29-7D9353085A0A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D9B02F-D247-4C29-965C-A85D7A4D64B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91F276-0709-45BD-90D5-CF754B6B328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USER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2BF28F-83BA-4B1E-96BE-D12E1423B7E3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0AEDD5-F9A3-445F-B00F-4D9C2025155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회원 정보 수정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715F937-04C1-402E-BB98-BDF854C2716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09FBB7-4887-463D-B314-00CD597F562B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48033E-BAC6-431E-8EE5-1A685A177DD4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회원 정보 수정은 변경된 개인정보를 검증한 뒤 안전하게 저장합니다.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98D285-602F-49C5-9863-70C4B9E070C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58C695-1453-496F-ABBA-33CF7BED39FB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02A43"/>
                </a:solidFill>
              </a:defRPr>
            </a:pPr>
            <a:r>
              <a:rPr sz="1200" b="0" i="0">
                <a:solidFill>
                  <a:srgbClr val="102A43"/>
                </a:solidFill>
              </a:rPr>
              <a:t>사용자가 화면에서 요청하면 서버가 확인, 처리, 저장한 뒤 결과를 보여주는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D402BA-B7FE-4FA7-8168-F3D692E16007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28A2546-6BE9-4DB9-A2CB-C1982F86AF24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614A6F4-4479-4651-B2AC-7B04D929442D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AB9731-0A13-4650-9D4A-D255196014F8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6B87B7-1DE0-42A3-A612-EB61A52772D0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수정값 입력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E14B76-C5E0-4D23-AFA9-9AD1866B4068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4FE3632-D985-4AB8-AA7B-979FB36387C7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28D18A-3B74-4BFE-B1A9-58A53D16B9E6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CB764C-2FE9-4F05-A75E-74E323734D07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검증 후 저장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165959B-FBCB-4E8F-961B-3598FD637F6D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D356DC2-EB74-4BF6-963C-D453F0D9328F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DB7B04-2D59-4779-AC1A-E0189DA61561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E4060B6-9A13-47E7-8EF2-13C06DA27A47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개인정보 갱신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555C18C-5133-4886-A0D6-D7495D2CB6EA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5C00C98-27BA-4368-B649-B3A762AF63A3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사용 흐름 중심</a:t>
            </a:r>
          </a:p>
        </p:txBody>
      </p:sp>
    </p:spTree>
    <p:extLst>
      <p:ext uri="{BB962C8B-B14F-4D97-AF65-F5344CB8AC3E}">
        <p14:creationId xmlns:p14="http://schemas.microsoft.com/office/powerpoint/2010/main" val="1064408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C568FB-E09C-47DF-A99B-DCD4547136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1A45"/>
          </a:solidFill>
          <a:ln w="9525">
            <a:solidFill>
              <a:srgbClr val="241A45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A7D292-0399-4239-A428-E5756912BB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DB690F-EE3B-4DEB-96F7-EC28A249276B}"/>
              </a:ext>
            </a:extLst>
          </p:cNvPr>
          <p:cNvSpPr>
            <a:spLocks noGrp="1"/>
          </p:cNvSpPr>
          <p:nvPr/>
        </p:nvSpPr>
        <p:spPr>
          <a:xfrm>
            <a:off x="781050" y="933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ADMIN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2C0F05-3242-45E4-B7ED-62C431ED1F67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619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관리자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3857EE-F846-44F3-AB8C-38FAA03DC36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DCE8F2"/>
                </a:solidFill>
              </a:defRPr>
            </a:pPr>
            <a:r>
              <a:rPr sz="1575" b="0" i="0">
                <a:solidFill>
                  <a:srgbClr val="DCE8F2"/>
                </a:solidFill>
              </a:rPr>
              <a:t>핵심 기능을 사용 흐름에 맞춰 정리했습니다.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933590-6503-4B1B-9061-10614066B944}"/>
              </a:ext>
            </a:extLst>
          </p:cNvPr>
          <p:cNvSpPr>
            <a:spLocks noGrp="1"/>
          </p:cNvSpPr>
          <p:nvPr/>
        </p:nvSpPr>
        <p:spPr>
          <a:xfrm>
            <a:off x="781050" y="3457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C5ED1B-2256-4D25-8684-C4988091FFA0}"/>
              </a:ext>
            </a:extLst>
          </p:cNvPr>
          <p:cNvSpPr>
            <a:spLocks noGrp="1"/>
          </p:cNvSpPr>
          <p:nvPr/>
        </p:nvSpPr>
        <p:spPr>
          <a:xfrm>
            <a:off x="1028700" y="3409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관리자 대시보드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C9B846F-60BE-410B-91E4-B5DD100DC6EB}"/>
              </a:ext>
            </a:extLst>
          </p:cNvPr>
          <p:cNvSpPr>
            <a:spLocks noGrp="1"/>
          </p:cNvSpPr>
          <p:nvPr/>
        </p:nvSpPr>
        <p:spPr>
          <a:xfrm>
            <a:off x="5257800" y="34575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36B723-9C55-40F8-8F7A-2558D490645C}"/>
              </a:ext>
            </a:extLst>
          </p:cNvPr>
          <p:cNvSpPr>
            <a:spLocks noGrp="1"/>
          </p:cNvSpPr>
          <p:nvPr/>
        </p:nvSpPr>
        <p:spPr>
          <a:xfrm>
            <a:off x="5505450" y="3409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공연 CRUD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A9F327-FD66-4FE3-83CB-19C836959F39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026BF9-B7DD-4D28-884F-BA6A664C4CB0}"/>
              </a:ext>
            </a:extLst>
          </p:cNvPr>
          <p:cNvSpPr>
            <a:spLocks noGrp="1"/>
          </p:cNvSpPr>
          <p:nvPr/>
        </p:nvSpPr>
        <p:spPr>
          <a:xfrm>
            <a:off x="1028700" y="3771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회차 CRUD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7A3171-46CF-4E44-9249-FF5EF7E1455F}"/>
              </a:ext>
            </a:extLst>
          </p:cNvPr>
          <p:cNvSpPr>
            <a:spLocks noGrp="1"/>
          </p:cNvSpPr>
          <p:nvPr/>
        </p:nvSpPr>
        <p:spPr>
          <a:xfrm>
            <a:off x="5257800" y="38195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ADEF9C-ECAB-4519-9D74-24E18349F056}"/>
              </a:ext>
            </a:extLst>
          </p:cNvPr>
          <p:cNvSpPr>
            <a:spLocks noGrp="1"/>
          </p:cNvSpPr>
          <p:nvPr/>
        </p:nvSpPr>
        <p:spPr>
          <a:xfrm>
            <a:off x="5505450" y="3771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좌석도 제작 / 좌석 생성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3F62DDB-8B6A-4A9A-A7B4-32464E3DD04A}"/>
              </a:ext>
            </a:extLst>
          </p:cNvPr>
          <p:cNvSpPr>
            <a:spLocks noGrp="1"/>
          </p:cNvSpPr>
          <p:nvPr/>
        </p:nvSpPr>
        <p:spPr>
          <a:xfrm>
            <a:off x="781050" y="4181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7F2D2C-0A36-4422-ABB9-41AF905BF1EF}"/>
              </a:ext>
            </a:extLst>
          </p:cNvPr>
          <p:cNvSpPr>
            <a:spLocks noGrp="1"/>
          </p:cNvSpPr>
          <p:nvPr/>
        </p:nvSpPr>
        <p:spPr>
          <a:xfrm>
            <a:off x="1028700" y="413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대기열 / 접속 모니터링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975494-CF8D-4183-BF7D-60779FAD48A1}"/>
              </a:ext>
            </a:extLst>
          </p:cNvPr>
          <p:cNvSpPr>
            <a:spLocks noGrp="1"/>
          </p:cNvSpPr>
          <p:nvPr/>
        </p:nvSpPr>
        <p:spPr>
          <a:xfrm>
            <a:off x="5257800" y="4181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275E27-374C-4229-886A-B87DA6BC0940}"/>
              </a:ext>
            </a:extLst>
          </p:cNvPr>
          <p:cNvSpPr>
            <a:spLocks noGrp="1"/>
          </p:cNvSpPr>
          <p:nvPr/>
        </p:nvSpPr>
        <p:spPr>
          <a:xfrm>
            <a:off x="5505450" y="413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예매 / 결제 / 환불 관리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8D4A362-D602-472B-9938-F935F0130190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2E726A-5995-40DA-A631-13A56B00534B}"/>
              </a:ext>
            </a:extLst>
          </p:cNvPr>
          <p:cNvSpPr>
            <a:spLocks noGrp="1"/>
          </p:cNvSpPr>
          <p:nvPr/>
        </p:nvSpPr>
        <p:spPr>
          <a:xfrm>
            <a:off x="1028700" y="4495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매출 / 예매 KPI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A4B2AB9-A132-41BF-9066-293ECF38A57C}"/>
              </a:ext>
            </a:extLst>
          </p:cNvPr>
          <p:cNvSpPr>
            <a:spLocks noGrp="1"/>
          </p:cNvSpPr>
          <p:nvPr/>
        </p:nvSpPr>
        <p:spPr>
          <a:xfrm>
            <a:off x="5257800" y="45434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3A5524-CFEC-4DBB-BB83-816D9C6CAF3D}"/>
              </a:ext>
            </a:extLst>
          </p:cNvPr>
          <p:cNvSpPr>
            <a:spLocks noGrp="1"/>
          </p:cNvSpPr>
          <p:nvPr/>
        </p:nvSpPr>
        <p:spPr>
          <a:xfrm>
            <a:off x="5505450" y="4495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회원 / 직원 / 권한 관리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EB56D9B-241F-45CB-9AA7-840D94B905C8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5E63E2-B3C6-4C65-8687-2DE9080EE026}"/>
              </a:ext>
            </a:extLst>
          </p:cNvPr>
          <p:cNvSpPr>
            <a:spLocks noGrp="1"/>
          </p:cNvSpPr>
          <p:nvPr/>
        </p:nvSpPr>
        <p:spPr>
          <a:xfrm>
            <a:off x="1028700" y="4857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공지 / FAQ CRUD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530326D-1071-4DD2-BEBE-C79AF4831C53}"/>
              </a:ext>
            </a:extLst>
          </p:cNvPr>
          <p:cNvSpPr>
            <a:spLocks noGrp="1"/>
          </p:cNvSpPr>
          <p:nvPr/>
        </p:nvSpPr>
        <p:spPr>
          <a:xfrm>
            <a:off x="5257800" y="4905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DB17DA-3802-470B-B58C-852A6F1578F0}"/>
              </a:ext>
            </a:extLst>
          </p:cNvPr>
          <p:cNvSpPr>
            <a:spLocks noGrp="1"/>
          </p:cNvSpPr>
          <p:nvPr/>
        </p:nvSpPr>
        <p:spPr>
          <a:xfrm>
            <a:off x="5505450" y="4857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문의 답변 관리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DEDF861-ED37-4BC1-9CFF-327AEAF5302F}"/>
              </a:ext>
            </a:extLst>
          </p:cNvPr>
          <p:cNvSpPr>
            <a:spLocks noGrp="1"/>
          </p:cNvSpPr>
          <p:nvPr/>
        </p:nvSpPr>
        <p:spPr>
          <a:xfrm>
            <a:off x="781050" y="5267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52767F-B547-408E-841E-0334C1BFD019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배너 / 이벤트 CRUD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DC51FDA-6C69-4061-8E87-F6A9103475AA}"/>
              </a:ext>
            </a:extLst>
          </p:cNvPr>
          <p:cNvSpPr>
            <a:spLocks noGrp="1"/>
          </p:cNvSpPr>
          <p:nvPr/>
        </p:nvSpPr>
        <p:spPr>
          <a:xfrm>
            <a:off x="5257800" y="5267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7A1EFBE-9338-4CC6-A06B-9CA9EDD37D98}"/>
              </a:ext>
            </a:extLst>
          </p:cNvPr>
          <p:cNvSpPr>
            <a:spLocks noGrp="1"/>
          </p:cNvSpPr>
          <p:nvPr/>
        </p:nvSpPr>
        <p:spPr>
          <a:xfrm>
            <a:off x="5505450" y="5219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F8FAFC"/>
                </a:solidFill>
              </a:defRPr>
            </a:pPr>
            <a:r>
              <a:rPr sz="1350" b="0" i="0">
                <a:solidFill>
                  <a:srgbClr val="F8FAFC"/>
                </a:solidFill>
              </a:rPr>
              <a:t>공연 후기 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AE9B96-9DFD-4470-8E9B-739A28D57F5D}"/>
              </a:ext>
            </a:extLst>
          </p:cNvPr>
          <p:cNvSpPr>
            <a:spLocks noGrp="1"/>
          </p:cNvSpPr>
          <p:nvPr/>
        </p:nvSpPr>
        <p:spPr>
          <a:xfrm>
            <a:off x="11096625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B8C4D3"/>
                </a:solidFill>
              </a:defRPr>
            </a:pPr>
            <a:r>
              <a:rPr sz="975" b="0" i="0">
                <a:solidFill>
                  <a:srgbClr val="B8C4D3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15579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E470B24E-E5A4-4328-B591-3ECDB6935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0889AC-0417-4636-AA0A-B78EB4F8C4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6E4CED-43CC-45AD-BC58-8D642D40CB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E3FBD91-852C-431D-B540-3C93277B581A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8AE322-35D7-4C90-B46F-814FF07A790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924B96-F65A-4BF3-9025-02C7BFDA9C0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3E30D4-DAD9-4863-BAEC-DBC31DACAD62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39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AD5B0C-8CAB-465D-B7A4-CE872804EC0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기능 구분 - Admin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B2B333-F4B6-45B1-81D9-0FF67DC6D88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C85D68-AFEA-428A-B548-221D88264C6D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관리자 기능은 공연, 회차, 좌석, 예매, 결제, 환불, 회원, 콘텐츠를 CRUD 중심으로 관리하도록 구성했습니다.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B3B9823-C835-494A-AEF7-27615C399B49}"/>
              </a:ext>
            </a:extLst>
          </p:cNvPr>
          <p:cNvSpPr>
            <a:spLocks noGrp="1"/>
          </p:cNvSpPr>
          <p:nvPr/>
        </p:nvSpPr>
        <p:spPr>
          <a:xfrm>
            <a:off x="5143500" y="16002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4EA7F61-154D-41AB-A418-86F4B32DF059}"/>
              </a:ext>
            </a:extLst>
          </p:cNvPr>
          <p:cNvSpPr>
            <a:spLocks noGrp="1"/>
          </p:cNvSpPr>
          <p:nvPr/>
        </p:nvSpPr>
        <p:spPr>
          <a:xfrm>
            <a:off x="5143500" y="16002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B5FF9-B3CB-4AD8-8981-CBC2DB17CB11}"/>
              </a:ext>
            </a:extLst>
          </p:cNvPr>
          <p:cNvSpPr>
            <a:spLocks noGrp="1"/>
          </p:cNvSpPr>
          <p:nvPr/>
        </p:nvSpPr>
        <p:spPr>
          <a:xfrm>
            <a:off x="5334000" y="17526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관리자 대시보드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C9CA6BA-E25C-4E1B-A29E-93519B71C8C5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3410514-6AA7-445F-A719-9A827F5C0AC4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62497B-EB4B-44E5-8B42-70819ADA639F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공연 CRUD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4CC8606-5325-4364-9D56-5687D8A20B75}"/>
              </a:ext>
            </a:extLst>
          </p:cNvPr>
          <p:cNvSpPr>
            <a:spLocks noGrp="1"/>
          </p:cNvSpPr>
          <p:nvPr/>
        </p:nvSpPr>
        <p:spPr>
          <a:xfrm>
            <a:off x="9906000" y="16002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A4BFE3F-DC38-49A7-8A2A-CFAFDB4F2121}"/>
              </a:ext>
            </a:extLst>
          </p:cNvPr>
          <p:cNvSpPr>
            <a:spLocks noGrp="1"/>
          </p:cNvSpPr>
          <p:nvPr/>
        </p:nvSpPr>
        <p:spPr>
          <a:xfrm>
            <a:off x="9906000" y="16002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E6F3D7-D5A9-4FAC-BC19-10AC1DAAC0A4}"/>
              </a:ext>
            </a:extLst>
          </p:cNvPr>
          <p:cNvSpPr>
            <a:spLocks noGrp="1"/>
          </p:cNvSpPr>
          <p:nvPr/>
        </p:nvSpPr>
        <p:spPr>
          <a:xfrm>
            <a:off x="10096500" y="17526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회차 CRUD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F7ECC86-DF21-4A31-A2E4-8FC75CC68AE3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AFC6591-DC8B-40A3-8C21-4E434B78F594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04FD79-D29A-4441-8940-D3D7747FC0EA}"/>
              </a:ext>
            </a:extLst>
          </p:cNvPr>
          <p:cNvSpPr>
            <a:spLocks noGrp="1"/>
          </p:cNvSpPr>
          <p:nvPr/>
        </p:nvSpPr>
        <p:spPr>
          <a:xfrm>
            <a:off x="5334000" y="24765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좌석도 제작 / 좌석 생성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07350D9-C9ED-443C-9A8D-F65AC1BA5E4B}"/>
              </a:ext>
            </a:extLst>
          </p:cNvPr>
          <p:cNvSpPr>
            <a:spLocks noGrp="1"/>
          </p:cNvSpPr>
          <p:nvPr/>
        </p:nvSpPr>
        <p:spPr>
          <a:xfrm>
            <a:off x="7524750" y="23241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D6F6D16-9099-4930-A845-1BDB386B2915}"/>
              </a:ext>
            </a:extLst>
          </p:cNvPr>
          <p:cNvSpPr>
            <a:spLocks noGrp="1"/>
          </p:cNvSpPr>
          <p:nvPr/>
        </p:nvSpPr>
        <p:spPr>
          <a:xfrm>
            <a:off x="7524750" y="23241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62FF29-DCD0-4F59-BADD-9E88F18B7231}"/>
              </a:ext>
            </a:extLst>
          </p:cNvPr>
          <p:cNvSpPr>
            <a:spLocks noGrp="1"/>
          </p:cNvSpPr>
          <p:nvPr/>
        </p:nvSpPr>
        <p:spPr>
          <a:xfrm>
            <a:off x="7715250" y="24765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대기열 / 접속 모니터링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0F397B8-DE4F-4BDC-96C2-30F539EB35A8}"/>
              </a:ext>
            </a:extLst>
          </p:cNvPr>
          <p:cNvSpPr>
            <a:spLocks noGrp="1"/>
          </p:cNvSpPr>
          <p:nvPr/>
        </p:nvSpPr>
        <p:spPr>
          <a:xfrm>
            <a:off x="9906000" y="23241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AD0DA82-08FC-4D89-B827-3AF3DCD88913}"/>
              </a:ext>
            </a:extLst>
          </p:cNvPr>
          <p:cNvSpPr>
            <a:spLocks noGrp="1"/>
          </p:cNvSpPr>
          <p:nvPr/>
        </p:nvSpPr>
        <p:spPr>
          <a:xfrm>
            <a:off x="9906000" y="23241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5224D0-8B50-497A-AFF4-1DC6454292B9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32238"/>
                </a:solidFill>
              </a:defRPr>
            </a:pPr>
            <a:r>
              <a:rPr sz="975" b="1" i="0">
                <a:solidFill>
                  <a:srgbClr val="132238"/>
                </a:solidFill>
              </a:rPr>
              <a:t>예매 / 결제 / 환불 관리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9E72E50-DDA9-4C5A-8508-B0549CDBBFE8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CC7215E-E1C2-48DE-9A6B-57D3D4D64008}"/>
              </a:ext>
            </a:extLst>
          </p:cNvPr>
          <p:cNvSpPr>
            <a:spLocks noGrp="1"/>
          </p:cNvSpPr>
          <p:nvPr/>
        </p:nvSpPr>
        <p:spPr>
          <a:xfrm>
            <a:off x="5143500" y="30480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7207FC-C604-4CB7-8220-95842EC81B9F}"/>
              </a:ext>
            </a:extLst>
          </p:cNvPr>
          <p:cNvSpPr>
            <a:spLocks noGrp="1"/>
          </p:cNvSpPr>
          <p:nvPr/>
        </p:nvSpPr>
        <p:spPr>
          <a:xfrm>
            <a:off x="5334000" y="3200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매출 / 예매 KPI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B038179-0751-415D-93BA-40871B4CCEDA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13EBAE2-8FAE-4DCF-A4E6-C5315E8D63D4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E161111-AD85-4980-A287-CBBBB38E54B0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32238"/>
                </a:solidFill>
              </a:defRPr>
            </a:pPr>
            <a:r>
              <a:rPr sz="975" b="1" i="0">
                <a:solidFill>
                  <a:srgbClr val="132238"/>
                </a:solidFill>
              </a:rPr>
              <a:t>회원 / 직원 / 권한 관리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7EE0579-DE4E-45D0-B777-3831C5201F23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5334899-5964-49B6-917E-5C595D2767F1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E38FB2-7EB3-4BA1-B5FE-25C4F62E0A39}"/>
              </a:ext>
            </a:extLst>
          </p:cNvPr>
          <p:cNvSpPr>
            <a:spLocks noGrp="1"/>
          </p:cNvSpPr>
          <p:nvPr/>
        </p:nvSpPr>
        <p:spPr>
          <a:xfrm>
            <a:off x="10096500" y="32004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공지 / FAQ CRUD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A9D98CB-800F-4186-9CC5-1B159906657F}"/>
              </a:ext>
            </a:extLst>
          </p:cNvPr>
          <p:cNvSpPr>
            <a:spLocks noGrp="1"/>
          </p:cNvSpPr>
          <p:nvPr/>
        </p:nvSpPr>
        <p:spPr>
          <a:xfrm>
            <a:off x="5143500" y="37719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62E3F8A-BCB5-488A-981F-C49436B3AF41}"/>
              </a:ext>
            </a:extLst>
          </p:cNvPr>
          <p:cNvSpPr>
            <a:spLocks noGrp="1"/>
          </p:cNvSpPr>
          <p:nvPr/>
        </p:nvSpPr>
        <p:spPr>
          <a:xfrm>
            <a:off x="5143500" y="37719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9C2497-2543-4D4F-98CE-FA5B9F0B4297}"/>
              </a:ext>
            </a:extLst>
          </p:cNvPr>
          <p:cNvSpPr>
            <a:spLocks noGrp="1"/>
          </p:cNvSpPr>
          <p:nvPr/>
        </p:nvSpPr>
        <p:spPr>
          <a:xfrm>
            <a:off x="5334000" y="39243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문의 답변 관리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ABA0290-7F83-4F32-BFC0-D6FCC5A4141A}"/>
              </a:ext>
            </a:extLst>
          </p:cNvPr>
          <p:cNvSpPr>
            <a:spLocks noGrp="1"/>
          </p:cNvSpPr>
          <p:nvPr/>
        </p:nvSpPr>
        <p:spPr>
          <a:xfrm>
            <a:off x="7524750" y="37719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F4100DB-264C-44C7-9FD9-624C775B5AE6}"/>
              </a:ext>
            </a:extLst>
          </p:cNvPr>
          <p:cNvSpPr>
            <a:spLocks noGrp="1"/>
          </p:cNvSpPr>
          <p:nvPr/>
        </p:nvSpPr>
        <p:spPr>
          <a:xfrm>
            <a:off x="7524750" y="37719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2CB9FF-25BD-43DF-BA7D-562AB341BC5F}"/>
              </a:ext>
            </a:extLst>
          </p:cNvPr>
          <p:cNvSpPr>
            <a:spLocks noGrp="1"/>
          </p:cNvSpPr>
          <p:nvPr/>
        </p:nvSpPr>
        <p:spPr>
          <a:xfrm>
            <a:off x="7715250" y="39243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배너 / 이벤트 CRUD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1D43CF4-A553-415B-82FA-212482AC1806}"/>
              </a:ext>
            </a:extLst>
          </p:cNvPr>
          <p:cNvSpPr>
            <a:spLocks noGrp="1"/>
          </p:cNvSpPr>
          <p:nvPr/>
        </p:nvSpPr>
        <p:spPr>
          <a:xfrm>
            <a:off x="9906000" y="3771900"/>
            <a:ext cx="20383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04541BC-57BC-442C-A3EE-45882CCA3776}"/>
              </a:ext>
            </a:extLst>
          </p:cNvPr>
          <p:cNvSpPr>
            <a:spLocks noGrp="1"/>
          </p:cNvSpPr>
          <p:nvPr/>
        </p:nvSpPr>
        <p:spPr>
          <a:xfrm>
            <a:off x="9906000" y="3771900"/>
            <a:ext cx="57150" cy="5143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BD106AB-4B89-437F-8DC8-15BE17870121}"/>
              </a:ext>
            </a:extLst>
          </p:cNvPr>
          <p:cNvSpPr>
            <a:spLocks noGrp="1"/>
          </p:cNvSpPr>
          <p:nvPr/>
        </p:nvSpPr>
        <p:spPr>
          <a:xfrm>
            <a:off x="10096500" y="392430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32238"/>
                </a:solidFill>
              </a:defRPr>
            </a:pPr>
            <a:r>
              <a:rPr sz="1125" b="1" i="0">
                <a:solidFill>
                  <a:srgbClr val="132238"/>
                </a:solidFill>
              </a:rPr>
              <a:t>공연 후기 관리</a:t>
            </a:r>
          </a:p>
        </p:txBody>
      </p:sp>
    </p:spTree>
    <p:extLst>
      <p:ext uri="{BB962C8B-B14F-4D97-AF65-F5344CB8AC3E}">
        <p14:creationId xmlns:p14="http://schemas.microsoft.com/office/powerpoint/2010/main" val="55348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31A307D-3304-42CD-B3BA-B348D05743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31969D-A10F-4A52-BEEA-79EA7BFFB7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349B86-C994-4028-8361-066809B81D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A287C8-D580-4EE4-9BA1-1C7CE17CC6D6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9866FF-3647-4B1E-90DC-F7753E1E334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B1245B-D337-4DC9-96B0-5643C75B8F1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1FE7C9-1AE2-4686-BD0C-402DABE54EC8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E0B9D9-327B-4EF7-91CA-AA38421F796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관리자 대시보드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6F34A91-77C0-4960-B7E8-F1B6B360150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8FE88C-2A35-4DAC-BD06-407472C60B5A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9D18F5-1585-4B53-975D-A8466B66275D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예매 현황, 매출, 접속 상태 같은 핵심 운영 정보를 한 화면에서 확인합니다.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EF04558-818E-4BFD-BEC0-96290EF1533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BA4F97-B43D-4F86-A5A8-5A90C2B365E2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4E8A16-57F6-43EC-93FC-F402F797AFE5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224F195-B5AE-4D72-954D-93100921F46E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A6A234A-71FC-47C7-B34E-3BB731C6EAB4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70F437-B951-4836-8078-91725646CC00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D55F3E-3533-49B5-9AE7-912BC84CC93B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핵심 지표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B3DAA9-7EC3-49B4-A6F9-1E6DB64603B5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8702560-A0B6-41DF-AA4B-6258561B4FA3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DD7FEC-06A2-48B6-83BB-FE349ECBE8AE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6387B9-4B89-43EB-917D-0102F8152AF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운영 상태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2558199-8CE0-4F57-9917-0D62C92D9256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BD34C7-49D9-45CD-A846-791F4FB7EEE4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8A564C-0EA1-4FDD-9604-05F39D845E10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295158-DD49-49C9-8B6D-1AA9BE91DDEE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관리 메뉴 이동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ECF4ADC-7C88-4151-8424-D34F8CD2C75A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A3C2D7-23AD-41ED-8F7D-69FA428557F3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200775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465837C-75DD-47A9-BA73-9341069B6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71B855-8639-4443-B575-0930691FCF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E0C3C4-A58F-4B2C-9AE7-AD8336154F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F18C561-FD51-41FC-A36C-D3456F691FF9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0B5917-1286-44DD-8F69-1F052F93F03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19C593-4CF4-432B-B4A7-D333BCB6ABBF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9A670B-B9CA-4E60-8191-BDACDEE0CBB3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0AE9B6-0213-4CF8-A5AC-F9B95C8D0885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CRUD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3E0BB97-C583-401C-8711-DA7109CA8DC8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6A8E4E-44B3-4A63-9C34-824772251BFC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069842-E8E4-45F5-9A46-FC47E57B8C2D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공연 정보를 등록, 조회, 수정, 삭제하며 사용자에게 노출되는 공연 데이터를 관리합니다.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8D712FF-18AB-4F5E-8378-DA248C21ECBD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E47798-D859-44BD-BA3A-767C44396B88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600246-4707-4F98-9C28-A1DE81996722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D6A106A-D9C0-43D2-A691-B99714594DC7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F9E3780-EA70-4343-9D97-0644719387AF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D4A86A-4251-48C1-BD01-47BC3817F6C1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39762B-752D-4C4E-BC49-2B1D85FCC5F3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공연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79AE7BB-68B0-4886-A808-B3B82FFC1C06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B71B915-ACF0-4581-A459-42C32D33B7E3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341A7A-7B21-42A3-9F2B-8253A7D8213B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1B4DA1-0E6C-4356-84E6-C7A05DA82B72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정보 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F87BC2A-976E-4191-A75E-AE90BCC401F9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FD30BD8-693D-4948-8EA9-3C05F57AABF5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08CB74-69A7-46D6-B95D-BDFC345961A4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F05D7C-44A4-43CF-8156-A640D277044B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노출/삭제 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848B8A7-307C-427F-9730-4D2CE1EAE1F1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2B258F-55AC-4115-BB23-A6C0D8EC71A9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915899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9C5C88-9171-4D74-A71C-BE92E7F7A7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FB660E-0ECB-4200-91FE-67002DA922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030F41-C369-4EC3-B7F3-D8EC0F50EB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7EE6973-4126-4699-9449-601F5965D2EF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5E5937-77A5-4D19-8109-53A23A00036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A115D6-2747-4B30-832B-BD5A672BE13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5981FB-2E81-4598-9A21-253E64DAA5AA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DDA4F3-2DE3-4AA8-8AB3-CC561C94590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회차 CRUD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D6FE827-E1D4-4728-941F-A1BF4842558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FD56EA-C3D8-41F9-99C7-4A88D189ECB3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D3F5D9-4257-49DE-AB96-354ED30A5588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공연의 날짜와 시간 단위인 회차를 등록하고 수정해 예매 가능한 일정을 운영합니다.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09A60FF-4E78-4195-8508-9543F9BA239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24D868-BB1C-4A8E-84AD-F637BA6A31D5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226A02-59C9-4378-9161-E746F32D01F3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567ED61-633D-4021-B085-0193214F5CF1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85F0B42-B741-4BDA-8932-72747318EF5D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CD2475-C4EA-4756-83A0-005787A7E21F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70977E-762D-47BF-8038-1E142C3E28C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회차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BF26F98-6020-4FFD-B476-AA5C2B7BF493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0333EF7-127C-4FAF-8DDA-5E5A735A3055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0B353D-28E9-4DAE-B99A-6325027FA869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472AB99-10D8-430C-9B37-7F2F6176C8C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일정 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D1C937F-4CAF-4882-B8E0-D2FC39FC7B9D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AD1249A-0645-4502-AD86-5C72FA49073F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38E7BB-7F41-49FD-A824-0313DA8DC459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E1E748-273C-4D46-8CAD-78BD532A8485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 상태 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3A2E632-B018-4CF0-B87E-4DE1DC56989E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95A0A4-78B9-4DB6-A553-6F33E61EA5D7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830899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913799-2479-4423-905A-2D3B0D0265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3B7471-D099-46F7-BAEE-76586EA116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6F9C61-4172-405E-86F2-30F6ACC8B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3786CD8-235C-4DFA-B8AE-F46C3253988D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17300F-DF3F-4B5B-A3A3-F4A04D9EA02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728473-DC75-4C58-AC17-971E64D1DF23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86FE8E-6E54-45A4-AA68-9592019124A5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999BC3-E20E-453C-A0D8-46C4687CD24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좌석도 제작 / 수정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F0746A-17BC-4249-A643-470565B90D86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2862B5-2D95-4FE7-8C32-FADC7F423CBF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F23314-1E4A-4BF7-A1E9-7726F8808C4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공연장 구조에 맞춰 좌석 배치를 만들고, 필요한 경우 좌석 정보를 수정합니다.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E2B252A-2E1E-4FAD-A740-68DF2B79CEE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7EA45D-B48D-44E1-87CA-4A3D264B0B02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CE829-36B7-4011-BD61-DB61FFC0741A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1F3FEE-CDD5-4BA8-B244-F7FE7C84530F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D5FCBD7-4CF8-4AB3-9ADE-45C7E2450139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9A8BF8-0E80-4722-A162-9C2D03C63512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B551AC-63FF-445A-B843-F81215001570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배치 생성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FC39C6D-0313-45E6-ADF9-49D8CD347C9F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66F19A-6382-4240-9D7E-9E744A231676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991651-C908-4F56-AA8D-A0440CA0CCD1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125A69-0562-43BE-B59B-73C9F169210B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정보 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8C77812-AFF2-4BAF-9BD8-84BDF634187B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3210E4B-66E7-47DE-A7EA-AC5BB9FA88D1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C015B4-EC1D-47DA-8E93-6FE61C05F306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52A211A-B16F-4843-9754-F459F8CEDA5F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상태 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93D7982-B35E-4504-960C-EAB1357357A5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ABDFA1-064A-4A50-8FBB-F82D13AAEC40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1624133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F71B3C30-D313-442E-AAF2-81A5FFE842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8E91EF-6E41-4AA1-9629-91F626D0F7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71318-09E0-4879-86F3-DBA36B71E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4D8D552-6B76-4475-973A-4E6EF2654800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C70177-6C12-44DD-BF83-AA8B084C4C9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09630D-0306-4963-9324-3E41AFD0E58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C73CAA-066A-4271-AED1-E423D03EC72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18D6E6-0931-4F40-BA92-6B41415C6965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회차별 좌석 일괄 생성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C358E1B-9EEA-4B33-8F8B-D7EFFB6CAD1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718D46-E0CC-4116-97E0-2916E3AFB012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A09600-A813-4DFB-92EB-EA69BE97CAD6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회차가 생성되면 해당 회차에서 사용할 좌석 데이터를 한 번에 생성해 관리 시간을 줄입니다.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F03E2F-68BA-4D86-99E4-7649E645AC3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28BA72-663D-4A3E-A44E-674254D4D95E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3689F5-B2B4-423E-A204-AE73E0AFFFB1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34B083F-1B26-440D-8303-5F9C95788955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51FB16-84B7-4E12-B7E3-3BF850B28047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A5F421-D215-4ADF-9610-4FA0CE940084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42F81F-A65F-41B0-9BCF-74965487671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회차 선택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C826A2-E357-4F6F-B62E-D599E3BE002D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063D4A-660E-4206-A6F4-7F13E24C6169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B16112-C760-4912-98FE-A0AD0E7DCCB6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6A0F34-FB1C-496F-9439-7EC95C032C12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데이터 생성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884AA49-8A3A-4E76-AD78-5C32966317B6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17782C-66C8-45EF-82D7-A43BC6874208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43720C8-E1A4-4CC2-A08B-96BC70A8929B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FAF9AA-FBEF-4B59-AC3F-E2A80D8984E8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 가능 좌석 반영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B411211-35CA-427C-904F-ACA744971201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2CE8EA-3B71-468E-9232-B6B6890FA8AC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728582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2FDDC9-F992-45B1-B46D-D1AC47AFD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5A2F9D-A075-4F81-B21C-94A86483C6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79AA3C-8F4D-4434-8231-DCF40824CD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96A3FAD-7C92-433C-83B4-E890A78BD4F9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EA33D9-5740-48BE-8F05-E36C0CE2B1D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4DE0B7-BA91-467B-B184-95A1E6B5C8F6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513A8F-0A25-45BA-A1B9-394D38D0BE24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A361AD-BBC0-4AAE-9582-B00B3AB8393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대기열 / 접속 현황 모니터링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C2D520-EDEE-4957-BFEF-48F67064CEC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CA623C-3C8A-4137-BC4A-A16D5FA046B3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080CA2-8BFB-4287-9F34-69A1D92EF6E7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접속자가 많을 때 대기열 상태와 현재 접속 현황을 확인해 서비스 상태를 점검합니다.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94C15EA-A1E5-4C1F-8B8D-237E1752D253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128D4E-1D96-4DC2-888A-4CF613D13B64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340498-67C7-4BCE-9FA3-ACC1C5E43C97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486F14-287F-4C88-9AD8-E969F45F7C94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3A8572C-E7E0-4898-8743-4242892A2478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59B389-ECA8-43A7-AC47-31AB6CF266F8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2AA8F1-DB5C-4BCB-B397-AB5132D756E0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접속 수 확인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58A10E2-D0A2-4A6E-9D1C-763502DC9E90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D54CB6A-BA87-437D-9607-84E1ECE559E2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9ADA10-18A9-4EA3-B828-1240DC621974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9AB7CA-9947-4214-B68C-D5F81B929431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대기열 상태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03BF4AB-63A3-4CAF-BD06-221F3363983C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BAB9E9-4294-41D2-869B-739ECD7F12F3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0F2A79-A2E1-4113-B4DF-D2AC92ACE864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54D2A7C-8991-417B-8D45-C23154FB08A0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운영 이슈 대응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77D82A4-9260-45C6-8140-E0748227F41F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BE7018F-7A2D-4244-B701-35BE6234A4EF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839411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FD3627-E5ED-40C1-B84A-4BCB521792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8B01CB-DD34-4486-B565-6AF4597F30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154F04-1780-44AB-B222-CAAA6C75B7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9B6863-DAD3-411B-AC8A-F194B56ED582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335D5C-798D-4B90-9E9B-1D62E66A817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3AE2BF-AECE-4084-A503-B8A832E2F564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B22C14-7ECF-4848-8F26-F1309388C49E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CF02C0-0AF0-4EA2-8308-10713FF11BA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예매 / 결제 / 환불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30686F5-229E-4A1D-B0E5-8593E06B8252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F7FC51-6262-44C1-8BDA-759558CEB535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72A183-4A38-46C2-81CF-6928BF45016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예매, 결제, 환불 데이터를 조회하고 상태 변경이 필요한 건을 관리합니다.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ACCB16-662A-4042-BEB6-A2D861C2B440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FE65C4-5683-4548-9AB2-B9052E92D86C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96D70D-0FE9-49E6-9DC5-C22A019C1327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76CF3A2-DBB5-4248-BE28-960CF4B2C156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2B08F33-C4E2-4BE0-8062-1FB13509271E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636DA2-3956-4C78-B4E5-6F6CBCCCE9F2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5CACC63-B1DF-410B-B6D6-18EC4D6FC99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예매 상태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5D2F066-654F-4F0D-964C-9702301358DA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06E77CC-FE4E-4FFA-896C-6B12681BC79D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F6B461-D893-4EAD-A92F-240E7185BD56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D08B72-F5A3-4BF5-8C95-EAC3A111DE5F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결제 내역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6665FE9-F8C9-445D-9F2D-8C392BFFCD79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89969D9-99EA-456C-9BFB-5DEC8A5BDEA3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4D6BF3-4701-4C92-9A29-70DE28448147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F6044C-118D-4BD2-BD57-7A8A335311C6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환불 처리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61846B-FCF1-4CD8-8E00-BD0E6ADD0D11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6C13F6-42F4-4513-9C8C-5AD6569B8783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347076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E24312F-5F57-4FB7-BDE0-ED33CC661E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8CAE2F-B0BC-495E-A925-B6FD27D481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8B99CD-30BB-4D4A-80FF-EC28276CE5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FCDD3E8-DD76-45A3-800C-C9E66087F156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AD82FE-591E-4D1C-8085-AFA76C3593B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006CD3-1337-4F48-88E8-738A1964ACF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675679-8EA3-4770-9128-B38B42FD5870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8B73B8-9D5C-48A1-A083-17E560F3011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회원 / 직원 / 권한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EA5F1E-B5C5-4574-9DE5-CD0FD98F2E85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F12DA6-0225-4BE7-A114-260EAF2C12FB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C4C725-BEC9-4870-B181-AA4F288C4A2E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회원과 직원 정보를 확인하고, 관리자 권한을 역할에 맞게 부여합니다.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F39AF1A-650B-476D-8878-83337D27EF10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AD229E-2947-4533-B3EB-4FF23497E69D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86D35A-DEFF-4C3D-BE16-AD0E74548AEE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BF61092-DBF4-4A4A-BAB0-EBCDE324F0D1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BBA6668-36FB-419E-9B7D-939AB36541A4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B28C59-408B-42D2-9A0D-E661AE3D597B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D8877F-7227-4CF3-94A0-D8DA19A22501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회원/직원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CEDC1B3-029F-474F-B6B3-FE45E41F1358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C76B35E-49CF-48DD-8EF8-0D0F80CEDCE1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070DCA-8935-44EF-A93E-38217791CDBD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464E3B-5A14-4A10-AB11-193DB3E9E6A7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역할 부여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B3F331-3253-44E6-9DBF-D289E3E2E9FA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16F05C1-E0D4-41F7-806F-F2B350BFC5E9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FD9BC5D-F3AD-4184-AAC6-63C5F3049EE1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22AAE5-3501-497F-92BE-5CF109088936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권한 변경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4FA5B60-748A-4795-A48F-29063135FE88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361FDA-A376-4FE7-92C7-6FB7E7688DCA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60347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6261C3B8-20E4-4AED-9420-41032C5CC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D30432-ACD0-4187-86CF-A2DEB780A0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2FD898-4BF0-43C4-8422-8A88AC2050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0557D30-BE5D-44CC-8406-E8CDD14DD6A1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413648-4463-43CF-8D79-6FE1218F11F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794686-89E6-40F8-B774-FD7474C2B078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EADAA5-ABAC-439D-A3E3-AB3733B854C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6B59FE-23BD-42E1-9BCC-646BE1FB2A0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공지사항 CRUD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E81A2F-EFA3-410F-85F4-DB6DDE0441A9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B07511-8342-47CA-AACA-800EEA9DB039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A8178A-0839-4EA0-A1FD-EC0F0ADCDDD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관리자는 공지사항을 등록, 수정, 삭제하여 사용자에게 운영 소식을 안내합니다.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5A820F4-15A4-4F58-9149-72367703805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527B30-64A9-47A8-ACAE-3B506F253E97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75B93B-980A-4050-9933-021B196E1849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C16EA9-CF86-433F-8CC9-CCE24ED99B30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16575B-5297-416B-B5F6-AB05B3601F3A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356942-2D16-4F07-A328-1266B3156D4F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C7FD01-7524-4A5D-B9AC-96F2482C8DF0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공지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13AD7EC-13B4-4DA5-995A-ADF5339BDBA7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523E833-B862-4C72-AEFC-587C881CAC6B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8B3654-3F2F-4913-A1D0-3B35475C713B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4037E5-6C0C-48F0-AE6C-97920ED0FBE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수정/삭제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CE193B7-34B9-49C2-9E52-A22BECA5B4BA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C90AC67-797A-498F-96AB-97963FD1CAFD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007440D-AF44-42E1-87CA-A06EF840D7CF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6EB1DF-9998-4A04-969E-9348D192C40A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사용자 안내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0494629-8F07-482C-84A7-5B33EBBC5C65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7F3039A-B841-4D4F-93C0-BDD645D23E33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709388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02A956-4E59-4308-9C36-28D6CC463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BA7940-712D-4926-936A-71AD8D506F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B41628-766A-4829-A61E-704880C315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6BB14E7-2548-4F38-B46E-422FF69165F5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0D2A6-7366-437D-AD12-550D2906E6C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C7D8B3-45CF-4AB9-BFC4-CF1BDD2CF79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4C0522-68A8-48FA-ADFD-31243AB8B2D3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49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C337CF-4232-42D0-A175-0C07993EC4C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FAQ CRUD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06F6CA-47AD-4178-9AD8-08D2E8D821A7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5CCCE3-F010-418E-B116-ADB4E3B01951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3DCF94-493C-4B2A-8109-DE2816270BDC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관리자는 FAQ를 등록, 수정, 삭제하여 반복 문의를 줄이고 이용 방법을 정리합니다.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E480EA-AB3B-4A3C-B3DD-471897E0C157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16C442-046C-4A5C-934B-CE49469DECA0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39DF8-1D68-481E-B444-1CBB58784FF2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F6BEA1F-42D9-4940-8438-69240A80DDA5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F9956C4-B60F-4C73-8241-F6E5A2C06DDA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4E694C-B05D-4935-9C8D-4751617CCE11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7702ED-939F-4919-B929-E004211D3122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FAQ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1EA49F9-8216-49F3-BDC8-A1F8115CFC34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E7F103A-C543-4BAF-9041-5AB3B98EAFE7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3D3C4C-5407-486D-A06E-A02554273E21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DA5DB1-427C-453F-98EC-EBC1CEB802DE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분류 관리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87074D1-D098-4A0B-8633-35D1D6C192EC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AFF9F5C-0584-4679-8FDB-BD1BAA8AC08C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4BCCA9-B15B-4EEA-BEF2-485536FFC929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69E592-FC4C-42BB-8688-9CC0AE071458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반복 문의 대응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EB3371B-8396-4A76-81C6-F3F19554F7C9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530846-6DA8-4F83-9828-F94951EB423B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7401482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BE1E01A-650C-4F0B-8779-7B446B806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432D29-B839-4CB2-8C1E-B8D6A6A5F2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70824B-914E-443E-B456-642993512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60AF411-6C05-4015-A4A2-AE726A763BDA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40364E-3B09-4F3F-9DD6-8CB3AD37D3C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2B6660-4040-43A6-8B73-7819F36B929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87CD83-5596-4B7D-A6E7-5828BE63A8FA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653DD2-15F1-4F64-A06E-30078370911D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1:1 문의 답변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3814A68-6577-43E1-A9D0-7E4EAC4B915D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DAD827-31CE-45D4-B2CF-81F497459478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473C23-D531-4C83-830A-5EC9D5337CA6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사용자가 남긴 1:1 문의를 확인하고 답변을 등록해 고객 지원을 처리합니다.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BC935E3-342A-41CE-B385-D019C0691D73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8918DC-E4AD-4328-8C13-022815728495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BB5D05-58E2-4431-87AE-277773960599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64274E-011A-48D7-BB79-8B55E5B17F2C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DE7EEB-3079-49BD-BA4B-509FF8310C2A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2D1F80-D552-4EC8-BEAF-BCC0188677D4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F2434E-A3F7-4D10-8FED-C0BE2B200812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문의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0794274-ABE4-4D17-86E7-A140850669BE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70A9AA-38C0-4C47-B168-E659B7497D71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492498-AF09-4E3F-AC3A-7FE512C9FC41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821B87-878D-495B-98F1-EE5A3CBC626B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답변 등록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69CE7BC-E8D8-4DC1-80E2-E5B80F77E72C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DAD4961-A20E-4D5D-AF76-6372183B7F6E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0FB429-0E2A-468E-B5CC-126F61B946A8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C599D22-DF64-47E2-932F-89AA2465DB7F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처리 상태 변경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644D7A2-2AFE-4DFA-B1E4-E3425A045A79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E096F95-C627-4AFB-A077-CA06D9379BAD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2763442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A84FA1-2752-458F-A90E-653282B24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013F90-F397-4B7B-8283-0F7271F832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5E6ED3-9C6C-415F-9168-8B2B848CA6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9A732E4-86B4-401F-A83E-8BFFC47786BE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F8E17E-EFC2-4988-80C6-53301DD159A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84DD1C-B999-4B9E-B967-58DC2BF50B2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BF5664-D948-4555-9E01-B3E78AB755FC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532617-EE5D-4A71-BBE1-109569DE79F5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배너 CRUD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E517CB8-3F53-4647-B75F-665C569CAA3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2E3ADB-A486-44A8-81E5-258E197C0BE8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2B4875-070F-47BB-B875-596237BA2B77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배너는 메인 화면이나 주요 영역에 노출할 홍보 이미지를 기간별로 관리합니다.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90D624-72A7-42F7-B8FD-8897078B7C80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D91A29-B195-436C-BED9-460163D34E05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899764-2D45-418D-987B-3357BDFB072C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9697F72-8A8E-45FA-97B1-08F74D9F0EAA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C9FEA6B-E69C-4FC4-8734-58DF1B2C2C80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B28A77-8EF1-45CA-9E65-1FB0F43CE9AA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70BB7F-E663-4595-98A6-450047F832B2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배너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4D99C-1531-45FE-8462-1D4BAE3C4C69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C849AF7-F4AE-4D94-A4FD-2CB160132F4F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69CC83-3FE4-4B82-8285-0CC834436605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0444CEA-EE04-4192-99DA-1AC0256085F0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노출 위치 설정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27DA468-2C0A-41F7-A6A6-CA4485D581B8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129BA39-1AE8-42E9-AADF-1F8D14C932F0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D3BEB6-5D62-4707-94D8-F997DCA63A64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C10572-0FE4-436B-88E7-D674479BD347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기간 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276E5CC-B184-465F-A8D1-2AF39EFF0B97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D0BBE0-5291-4CBC-BE7B-6A013FA7AB44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2092350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4395BE-0886-4496-AB9B-B79F9DD66E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113A6D-DE64-4D0B-B644-7300373E71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362251-3DAF-4A89-82A9-D83BE9BC61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CBC437-29E8-4971-BA98-A6BDD94DB894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BAF26D-2C0F-4E7F-BFA6-DD606C458BA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0DE074-76BE-4A1D-AE22-EDEF4D5CBC32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299A79-8BF4-481B-A05E-20E09D0665FF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85BE41-BE2B-481C-9EE2-7D0FED58769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이벤트 CRUD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9557E8-35F1-4FE3-9E6B-49C6B09EE88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D2E27E-7FE5-473A-A2D4-797542AA3224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34FBB9-E152-4CD9-91F2-DBDEFECC33EE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이벤트는 참여 조건, 기간, 노출 상태를 관리해 사용자 참여를 유도합니다.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326B3AB-FAA6-4EF9-AAA2-B24B4017217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E2F617-1F41-4463-88B9-48EF181D7639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6B7A56-C6B4-461A-B0A3-02A1771D791D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B1DE428-392D-4956-B496-673B7EF1DA42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2E34492-B52E-4F7D-A3CA-075EA0D5240B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F5F42B-9A08-4E9C-BFB1-B3412205FE6C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933C2C-0A68-4F02-968F-6A49F6EA32FD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이벤트 등록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91A97E2-AE4F-4D2C-8151-1CED5E425B2C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E5B528F-3D9E-4FB3-919A-E958F1E2DF75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96D168-C925-4C2E-BFB5-BFC284419E03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00FD1C-0291-43BB-8CE7-42AF4D4F4F45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참여 조건 설정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0118244-13CF-4B30-BB4E-8463E4761E40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B10B465-A612-4B2C-950A-2313EEC54F78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BDCA4E2-EB75-4A87-8C2A-8F9A64E5AF2D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984AA7-E736-484B-B068-3475F82B0AD8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노출 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526D235-1FFD-45A3-94B9-588EDC9C6964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0298A4-8137-4B3E-9013-90FFB1806939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4627223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0D9CDA-C76C-4428-B360-D3740D3C37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80184C-4501-44A5-B944-17716AEA77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AC7038-2C67-45CA-84F2-D83EB2100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EE29D62-1527-4511-BA04-CC7767B0820D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339053-5636-40B6-B4E4-E604183E9F1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B68E88-6D26-441F-81DB-BBB4585539ED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800896-F4BC-41A1-8F2E-6F11E909A18A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F4641-43F6-4B04-99B1-7D114E4A0E3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공연 후기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33EF79-C295-45D6-8611-255BE48C5595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3F67B4-15C4-4869-AFAB-2B58A55F7EE7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51C02-5F81-4379-B76D-7C86994D2E18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등록된 공연 후기를 확인하고 부적절한 내용은 숨김 또는 삭제 처리합니다.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31CD2F-7220-4B82-8049-1F941DE7CD0A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425380-A034-4613-8FB8-9BB3B56F8DAA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D2B077-9F17-4E2D-A5E7-5F828923FCA0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96B945-2859-44A0-88F6-E65741DCB069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963811B-6E41-4975-A0DB-5D38161A41B3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1A7E3E-1FB3-4AC6-8AD8-6A6085A38922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D62792-5917-4AC1-A2D1-903FA9E3FB8B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후기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869D6ED-6425-4341-AF72-39043AF81781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477F4B2-B3F4-4FF3-934B-66A79DC9B142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3C7D9D-4D43-4C50-91DE-E14D3ECD5908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FC6883-4734-49AF-80EC-CA1C9E8498B7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부적절 글 관리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6AAC46B-B36C-46C2-92F2-6AC6BF18ABFC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4EE5667-60B8-4ADA-B7E0-D65CC23FCB32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79B49A-71D9-4849-8B54-1F7B9E0A3104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1577BD-15D1-4B9B-946C-CEEA30F13C11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노출 상태 변경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D048917-40C0-41EE-A981-F71044608179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306C4F-68DA-407C-B5DF-7559DCFCF6BB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3956898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B1646549-E020-4330-BB73-B1EF483E70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D10E6E-E263-450C-B409-3B1FCC9A0A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02C407-4E81-412C-8AE5-15F6EEBD52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BCEF2C9-69F6-432C-83FC-B7F029AB404A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9CD2C5-BBF6-4E82-A912-5C51188695C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F7D1D8-AD51-49B0-B203-2AC5AB92E3E6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F6914D-1E2D-4686-8EB7-E80393904A85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C48A5A-F8EB-4EF9-8D13-6CFF2CDD726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운영 로그 / 에러 로그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303EA79-60DE-4020-8E5E-FF1963747E0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441C06-2CC7-464C-B2FA-42851C6503A7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4EE102-901C-4992-8046-F2D4686F01E6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운영 로그와 에러 로그는 관리자 작업과 시스템 오류를 확인해 문제 원인을 찾는 데 사용합니다.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85AE34-5D03-477A-A0FA-960D4A0D7228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E20505-7F86-4BEF-9F03-C81E2062A257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E0E9DC-3DDA-4050-96DE-9C8EC0F98687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F784DBA-5334-4AA9-9704-E8CEAFE4F5A0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C7503D3-562E-47D9-8B79-A54421E28A2F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6434C7-F358-4041-872D-FAC3C641643B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2DCB2E-F62B-4018-9394-E3A4971B71A9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운영 로그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F9EED9D-7DD8-4152-9349-8BD3B22ED161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641E855-4E94-488C-9194-B30A210E1409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187136-B22E-49D2-BC99-DC7B6ABBA1D6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90E6CC-71AF-4C02-A360-B0791F9DD188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에러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11321E-5187-4EA7-8625-AD5830D9A10A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7D02836-6038-4F32-9D7A-69206591631E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C800F2-71B6-4855-937A-661132879446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51BC58-3FD4-41E7-A09D-7FB4C1E9BE96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문제 원인 추적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A105727-E2AE-4180-8730-A4FF330C9978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F298F7-9726-4E12-8C27-E2E74D057C8B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16751908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83EF38-F2A9-4DF8-93AA-D0514D66D6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0D5918-924C-4172-82A4-CAA21A6D6B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5BF66B-4D17-4B8B-9890-5892373483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A34DB9D-0E7B-4540-9EC9-D51883E0759F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EDFDFA-EC78-416D-96A5-82A1DEB6D34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8BFA01-1D51-4EF1-9E73-DB680A6BEBE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ADMIN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EDA046-ADF8-435B-8AD6-911163D210B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5EFCB5-2537-47EC-8D11-426D8CEE5B4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좌석 조회 / 초기화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5DA316-154F-4045-AE4C-D64202BB984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A4C4B8-3779-438E-873B-B3BAAF9E4CBE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원리 요약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8FE51-A1D2-4C96-9A24-B0EB8F009B10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회차별 좌석 목록과 상태를 확인하고, 운영상 필요한 경우 좌석 데이터를 초기화하거나 다시 생성합니다.</a:t>
            </a:r>
          </a:p>
          <a:p>
            <a:pPr algn="l">
              <a:defRPr sz="1350" b="0" i="0">
                <a:solidFill>
                  <a:srgbClr val="5B667A"/>
                </a:solidFill>
              </a:defRPr>
            </a:pPr>
            <a:r>
              <a:rPr sz="1350" b="0" i="0">
                <a:solidFill>
                  <a:srgbClr val="5B667A"/>
                </a:solidFill>
              </a:rPr>
              <a:t>• 단, 이미 판매되었거나 점유 중인 좌석이 있으면 데이터 충돌을 막기 위해 초기화를 제한합니다.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4041CED-23AC-4AD3-A229-6E876A0766E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3543300" cy="704850"/>
          </a:xfrm>
          <a:prstGeom prst="roundRect">
            <a:avLst>
              <a:gd name="adj" fmla="val 8108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9DB32E-A13B-453E-B0C3-36F6EF895413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1A45"/>
                </a:solidFill>
              </a:defRPr>
            </a:pPr>
            <a:r>
              <a:rPr sz="1200" b="0" i="0">
                <a:solidFill>
                  <a:srgbClr val="241A45"/>
                </a:solidFill>
              </a:rPr>
              <a:t>관리자가 데이터를 등록, 수정, 삭제하고 운영 상태를 확인하는 흐름입니다.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444640-0F46-4037-8DCC-26DD564031BF}"/>
              </a:ext>
            </a:extLst>
          </p:cNvPr>
          <p:cNvSpPr>
            <a:spLocks noGrp="1"/>
          </p:cNvSpPr>
          <p:nvPr/>
        </p:nvSpPr>
        <p:spPr>
          <a:xfrm>
            <a:off x="5124450" y="1962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32238"/>
                </a:solidFill>
              </a:defRPr>
            </a:pPr>
            <a:r>
              <a:rPr sz="1800" b="1" i="0">
                <a:solidFill>
                  <a:srgbClr val="132238"/>
                </a:solidFill>
              </a:rPr>
              <a:t>처리 흐름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5066852-FAEB-4FCD-AAB6-DD08B1E2A03D}"/>
              </a:ext>
            </a:extLst>
          </p:cNvPr>
          <p:cNvSpPr>
            <a:spLocks noGrp="1"/>
          </p:cNvSpPr>
          <p:nvPr/>
        </p:nvSpPr>
        <p:spPr>
          <a:xfrm>
            <a:off x="5124450" y="25527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693B0BD-F430-4EB6-93A3-A6AFEC834E6B}"/>
              </a:ext>
            </a:extLst>
          </p:cNvPr>
          <p:cNvSpPr>
            <a:spLocks noGrp="1"/>
          </p:cNvSpPr>
          <p:nvPr/>
        </p:nvSpPr>
        <p:spPr>
          <a:xfrm>
            <a:off x="5334000" y="27336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AFE653-84BB-44A7-BD17-6A044EFB7EBA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415ADE-0209-4B96-9129-C5AA7513B53A}"/>
              </a:ext>
            </a:extLst>
          </p:cNvPr>
          <p:cNvSpPr>
            <a:spLocks noGrp="1"/>
          </p:cNvSpPr>
          <p:nvPr/>
        </p:nvSpPr>
        <p:spPr>
          <a:xfrm>
            <a:off x="5962650" y="2762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상태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4CB0239-E9DA-4DB3-ADD4-A30BECA2A153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9746765-9947-4420-83D1-80E8048F32B2}"/>
              </a:ext>
            </a:extLst>
          </p:cNvPr>
          <p:cNvSpPr>
            <a:spLocks noGrp="1"/>
          </p:cNvSpPr>
          <p:nvPr/>
        </p:nvSpPr>
        <p:spPr>
          <a:xfrm>
            <a:off x="5334000" y="37242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471E8E-39E8-4C1C-A544-F7250BE4215B}"/>
              </a:ext>
            </a:extLst>
          </p:cNvPr>
          <p:cNvSpPr>
            <a:spLocks noGrp="1"/>
          </p:cNvSpPr>
          <p:nvPr/>
        </p:nvSpPr>
        <p:spPr>
          <a:xfrm>
            <a:off x="5429250" y="3800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33BD15-6FC8-4F42-8F57-1ED4B1782397}"/>
              </a:ext>
            </a:extLst>
          </p:cNvPr>
          <p:cNvSpPr>
            <a:spLocks noGrp="1"/>
          </p:cNvSpPr>
          <p:nvPr/>
        </p:nvSpPr>
        <p:spPr>
          <a:xfrm>
            <a:off x="5962650" y="3752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초기화 가능 여부 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4DC3F09-3CDE-46DA-9C77-6CEB2BE43836}"/>
              </a:ext>
            </a:extLst>
          </p:cNvPr>
          <p:cNvSpPr>
            <a:spLocks noGrp="1"/>
          </p:cNvSpPr>
          <p:nvPr/>
        </p:nvSpPr>
        <p:spPr>
          <a:xfrm>
            <a:off x="5124450" y="4533900"/>
            <a:ext cx="5619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01AE2AE-293E-4E46-A459-ACD82AB064B5}"/>
              </a:ext>
            </a:extLst>
          </p:cNvPr>
          <p:cNvSpPr>
            <a:spLocks noGrp="1"/>
          </p:cNvSpPr>
          <p:nvPr/>
        </p:nvSpPr>
        <p:spPr>
          <a:xfrm>
            <a:off x="5334000" y="4714875"/>
            <a:ext cx="400050" cy="323850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6CEBF14-8BE5-4965-BD9B-8CD721BDFAE4}"/>
              </a:ext>
            </a:extLst>
          </p:cNvPr>
          <p:cNvSpPr>
            <a:spLocks noGrp="1"/>
          </p:cNvSpPr>
          <p:nvPr/>
        </p:nvSpPr>
        <p:spPr>
          <a:xfrm>
            <a:off x="5429250" y="4791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8FA969E-56B3-4C34-9E14-161E2FCF0A6B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32238"/>
                </a:solidFill>
              </a:defRPr>
            </a:pPr>
            <a:r>
              <a:rPr sz="1650" b="1" i="0">
                <a:solidFill>
                  <a:srgbClr val="132238"/>
                </a:solidFill>
              </a:rPr>
              <a:t>좌석 재생성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AA13CFF-D965-4008-A272-A5E2BEB2E796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1695450" cy="323850"/>
          </a:xfrm>
          <a:prstGeom prst="roundRect">
            <a:avLst>
              <a:gd name="adj" fmla="val 17647"/>
            </a:avLst>
          </a:prstGeom>
          <a:solidFill>
            <a:srgbClr val="F2EDFF"/>
          </a:solidFill>
          <a:ln w="9525">
            <a:solidFill>
              <a:srgbClr val="F2ED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909CDA-AEFD-4C66-8745-5565DC841242}"/>
              </a:ext>
            </a:extLst>
          </p:cNvPr>
          <p:cNvSpPr>
            <a:spLocks noGrp="1"/>
          </p:cNvSpPr>
          <p:nvPr/>
        </p:nvSpPr>
        <p:spPr>
          <a:xfrm>
            <a:off x="5314950" y="57340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1A45"/>
                </a:solidFill>
              </a:defRPr>
            </a:pPr>
            <a:r>
              <a:rPr sz="1050" b="1" i="0">
                <a:solidFill>
                  <a:srgbClr val="241A45"/>
                </a:solidFill>
              </a:rPr>
              <a:t>CRUD 중심 운영</a:t>
            </a:r>
          </a:p>
        </p:txBody>
      </p:sp>
    </p:spTree>
    <p:extLst>
      <p:ext uri="{BB962C8B-B14F-4D97-AF65-F5344CB8AC3E}">
        <p14:creationId xmlns:p14="http://schemas.microsoft.com/office/powerpoint/2010/main" val="968582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811F2F-0A81-4F05-B597-DEA1ABCED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C07B57-3143-4E20-B621-AC457139C1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31F11A-C1B0-466C-991C-B74CDDEE0F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893ED5A-94A5-4CDD-8B57-75BA7AD5871B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 w="9525">
            <a:solidFill>
              <a:srgbClr val="E6FFFA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8B70DB-5EEF-4345-A9A2-8511507D316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3692B1-E1D9-42AF-85C2-863E19C068EE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VALIDATION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6A964F-11F6-450B-86A4-DE72F95DC060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9E138E-7454-4E48-8267-5FAB0FEA2117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테스트 및 검증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D79DD84-29FF-4D8E-8AD2-C00702442B0D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C6AA783-391A-4375-B96A-0C149EFD8A9C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주요 기능이 정상 동작하는지 확인하고, 예매처럼 사용자가 몰리는 흐름은 부하 테스트로 검증했습니다.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5461647-92F2-4932-82CD-8B391007BB2B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735960-3E6B-4A96-8CD7-640ED74E74F1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18CA80A-0D1D-404D-AC97-775F58A39DF5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 w="9525">
            <a:solidFill>
              <a:srgbClr val="E6FFF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DEC8E-8F05-48B3-9D27-D3D4041A0FBE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Validation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33FD82-AA05-4735-9846-7E7563159486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19677809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26FF68-7394-4660-9702-D9BDF0C87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D7A53D-1575-44F5-A3E4-67E95F97CE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F2D034-B5EC-4138-A173-D33DB0CFED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9C31366-6CB9-43BC-A0ED-77E9C8AD1353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 w="9525">
            <a:solidFill>
              <a:srgbClr val="E6FFFA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A6EFAF-8221-4063-B29A-36743647D33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161A55-9FF1-47D9-9B5F-AE6A548949CD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VALIDATION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693084-274B-4366-8026-7CA11E991367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1799D7-1DB3-4DF3-A826-FA6BB233FD2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부하 테스트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77002F7-D660-4A53-BE06-69CA906DBD5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57A13-E9FF-4253-997C-1F33F6A83571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다수 사용자가 동시에 접근하는 상황을 가정해 대기열과 예매 처리 안정성을 확인했습니다.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FE78454-560E-485B-8467-7CC2CA6A75F1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ECA5C88-5F0B-463B-B8F0-C179B27C5EAA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807BA5A-5B15-48E7-8C0E-9D50BC09B8B8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 w="9525">
            <a:solidFill>
              <a:srgbClr val="E6FFF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F7402-88B2-4EB5-A1AC-865AF1044E7E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Validation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A7C950-6B1D-43AA-AAC4-45D96BB9DC61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8151395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278604-B874-45D3-8DC6-7C24FF20AA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601F39-F01E-495F-A4AD-695DCAC96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7705C5-AF16-4CDA-9CE9-588ECB7FE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2E5909-0707-4086-B77E-013C443C5A2F}"/>
              </a:ext>
            </a:extLst>
          </p:cNvPr>
          <p:cNvSpPr>
            <a:spLocks noGrp="1"/>
          </p:cNvSpPr>
          <p:nvPr/>
        </p:nvSpPr>
        <p:spPr>
          <a:xfrm>
            <a:off x="361950" y="209550"/>
            <a:ext cx="1257300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 w="9525">
            <a:solidFill>
              <a:srgbClr val="E6FFFA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C65AC2-1639-4BC6-A1ED-BCEAED12047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23C3A"/>
                </a:solidFill>
              </a:defRPr>
            </a:pPr>
            <a:r>
              <a:rPr sz="1050" b="1" i="0">
                <a:solidFill>
                  <a:srgbClr val="123C3A"/>
                </a:solidFill>
              </a:rPr>
              <a:t>CatchCatch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17E627-1274-4F6C-87EE-01F32C45AE2B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5B667A"/>
                </a:solidFill>
              </a:defRPr>
            </a:pPr>
            <a:r>
              <a:rPr sz="900" b="1" i="0">
                <a:solidFill>
                  <a:srgbClr val="5B667A"/>
                </a:solidFill>
              </a:rPr>
              <a:t>VALIDATION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2CAE0B-6130-4561-A600-05966476F6DA}"/>
              </a:ext>
            </a:extLst>
          </p:cNvPr>
          <p:cNvSpPr>
            <a:spLocks noGrp="1"/>
          </p:cNvSpPr>
          <p:nvPr/>
        </p:nvSpPr>
        <p:spPr>
          <a:xfrm>
            <a:off x="11620500" y="257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58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241CB6-F5EE-4538-89BD-471CBC1DE6F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32238"/>
                </a:solidFill>
              </a:defRPr>
            </a:pPr>
            <a:r>
              <a:rPr sz="2700" b="1" i="0">
                <a:solidFill>
                  <a:srgbClr val="132238"/>
                </a:solidFill>
              </a:rPr>
              <a:t>깃허브 주소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6427B0B-2B65-4C84-B844-C2B43B7B47A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B2EBB1-648D-4817-9688-A8D64636D37D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42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B667A"/>
                </a:solidFill>
              </a:defRPr>
            </a:pPr>
            <a:r>
              <a:rPr sz="1275" b="0" i="0">
                <a:solidFill>
                  <a:srgbClr val="5B667A"/>
                </a:solidFill>
              </a:rPr>
              <a:t>• 감사합니다.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B6CB84B-F4A2-45B6-A6B1-2CAD099DD415}"/>
              </a:ext>
            </a:extLst>
          </p:cNvPr>
          <p:cNvSpPr>
            <a:spLocks noGrp="1"/>
          </p:cNvSpPr>
          <p:nvPr/>
        </p:nvSpPr>
        <p:spPr>
          <a:xfrm>
            <a:off x="4438650" y="1219200"/>
            <a:ext cx="7067550" cy="447675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9B34BF5-FDF8-47DC-AFEA-717562252AC8}"/>
              </a:ext>
            </a:extLst>
          </p:cNvPr>
          <p:cNvSpPr>
            <a:spLocks noGrp="1"/>
          </p:cNvSpPr>
          <p:nvPr/>
        </p:nvSpPr>
        <p:spPr>
          <a:xfrm>
            <a:off x="4629150" y="1409700"/>
            <a:ext cx="6686550" cy="4095750"/>
          </a:xfrm>
          <a:prstGeom prst="roundRect">
            <a:avLst>
              <a:gd name="adj" fmla="val 139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5350" y="1619845"/>
            <a:ext cx="6534150" cy="3675459"/>
          </a:xfrm>
          <a:prstGeom prst="roundRect">
            <a:avLst>
              <a:gd name="adj" fmla="val 1435"/>
            </a:avLst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DE7AB1-18B4-481E-BBC8-215F0C2004DC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1752600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 w="9525">
            <a:solidFill>
              <a:srgbClr val="E6FFF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4C364A-D41B-405F-BA2F-04CA51020BB1}"/>
              </a:ext>
            </a:extLst>
          </p:cNvPr>
          <p:cNvSpPr>
            <a:spLocks noGrp="1"/>
          </p:cNvSpPr>
          <p:nvPr/>
        </p:nvSpPr>
        <p:spPr>
          <a:xfrm>
            <a:off x="914400" y="59817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123C3A"/>
                </a:solidFill>
              </a:defRPr>
            </a:pPr>
            <a:r>
              <a:rPr sz="975" b="1" i="0">
                <a:solidFill>
                  <a:srgbClr val="123C3A"/>
                </a:solidFill>
              </a:rPr>
              <a:t>Validation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F3A14B-0D80-4EEA-9EA1-6BE328280011}"/>
              </a:ext>
            </a:extLst>
          </p:cNvPr>
          <p:cNvSpPr>
            <a:spLocks noGrp="1"/>
          </p:cNvSpPr>
          <p:nvPr/>
        </p:nvSpPr>
        <p:spPr>
          <a:xfrm>
            <a:off x="9639300" y="61531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 i="0">
                <a:solidFill>
                  <a:srgbClr val="5B667A"/>
                </a:solidFill>
              </a:defRPr>
            </a:pPr>
            <a:r>
              <a:rPr sz="900" b="0" i="0">
                <a:solidFill>
                  <a:srgbClr val="5B667A"/>
                </a:solidFill>
              </a:rPr>
              <a:t>CatchCatch portfolio</a:t>
            </a:r>
          </a:p>
        </p:txBody>
      </p:sp>
    </p:spTree>
    <p:extLst>
      <p:ext uri="{BB962C8B-B14F-4D97-AF65-F5344CB8AC3E}">
        <p14:creationId xmlns:p14="http://schemas.microsoft.com/office/powerpoint/2010/main" val="4187708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2706</Words>
  <Application>Microsoft Office PowerPoint</Application>
  <DocSecurity>0</DocSecurity>
  <PresentationFormat>와이드스크린</PresentationFormat>
  <Paragraphs>792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0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2026-07-01T05:53:46Z</dcterms:created>
  <dcterms:modified xsi:type="dcterms:W3CDTF">2026-07-01T06:08:01Z</dcterms:modified>
</cp:coreProperties>
</file>